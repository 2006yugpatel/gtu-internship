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custDataLst>
    <p:tags r:id="rId17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B712-0220-4062-ABEA-FFE2534589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CB0BB-448F-4317-A5DD-7AFDDE6DA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017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B0BB-448F-4317-A5DD-7AFDDE6DACA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3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/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6"/>
          <p:cNvSpPr>
            <a:spLocks noGrp="1"/>
          </p:cNvSpPr>
          <p:nvPr>
            <p:ph type="sldNum" sz="quarter" idx="10"/>
          </p:nvPr>
        </p:nvSpPr>
        <p:spPr/>
        <p:txBody>
          <a:bodyPr vert="horz" numCol="1" anchor="t" anchorCtr="0" compatLnSpc="1">
            <a:prstTxWarp prst="textNoShape">
              <a:avLst/>
            </a:prstTxWarp>
          </a:bodyPr>
          <a:lstStyle>
            <a:lvl1pPr eaLnBrk="1" fontAlgn="base" hangingPunct="1">
              <a:buSzPct val="100000"/>
              <a:buFont typeface="Calibri" panose="020F0502020204030204" pitchFamily="34" charset="0"/>
              <a:buNone/>
              <a:defRPr smtClean="0">
                <a:ln>
                  <a:noFill/>
                </a:ln>
                <a:latin typeface="Calibri" panose="020F0502020204030204" pitchFamily="34" charset="0"/>
              </a:defRPr>
            </a:lvl1pPr>
          </a:lstStyle>
          <a:p>
            <a:fld id="{0AE716F8-E2C0-4086-9D36-AA33335B9C63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5" name="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Holder 5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BBF1463-A213-4D29-B5BF-EEC7285853ED}" type="datetime1">
              <a:rPr lang="en-US"/>
              <a:pPr/>
              <a:t>7/8/2026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9811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4602" y="2678388"/>
            <a:ext cx="15032334" cy="2455391"/>
          </a:xfrm>
        </p:spPr>
        <p:txBody>
          <a:bodyPr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5830" y="4452940"/>
            <a:ext cx="8366125" cy="4565015"/>
          </a:xfrm>
        </p:spPr>
        <p:txBody>
          <a:bodyPr/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A788EB-A495-416F-A5AE-466450B482AF}" type="datetime1">
              <a:rPr lang="en-US"/>
              <a:pPr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AEE935-082F-4664-BC17-29E358DE62B5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51231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4602" y="2678388"/>
            <a:ext cx="15032334" cy="2455391"/>
          </a:xfrm>
        </p:spPr>
        <p:txBody>
          <a:bodyPr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7"/>
          <p:cNvSpPr>
            <a:spLocks noGrp="1"/>
          </p:cNvSpPr>
          <p:nvPr>
            <p:ph type="sldNum" sz="quarter" idx="10"/>
          </p:nvPr>
        </p:nvSpPr>
        <p:spPr/>
        <p:txBody>
          <a:bodyPr vert="horz" numCol="1" anchor="t" anchorCtr="0" compatLnSpc="1">
            <a:prstTxWarp prst="textNoShape">
              <a:avLst/>
            </a:prstTxWarp>
          </a:bodyPr>
          <a:lstStyle>
            <a:lvl1pPr eaLnBrk="1" fontAlgn="base" hangingPunct="1">
              <a:buSzPct val="100000"/>
              <a:buFont typeface="Calibri" panose="020F0502020204030204" pitchFamily="34" charset="0"/>
              <a:buNone/>
              <a:defRPr smtClean="0">
                <a:ln>
                  <a:noFill/>
                </a:ln>
                <a:latin typeface="Calibri" panose="020F0502020204030204" pitchFamily="34" charset="0"/>
              </a:defRPr>
            </a:lvl1pPr>
          </a:lstStyle>
          <a:p>
            <a:fld id="{B72A895B-61D4-4CF3-A4DA-E2AAE1640BF8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6" name="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Holder 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E85F2CD6-69C4-4925-9730-F6487ABA3111}" type="datetime1">
              <a:rPr lang="en-US"/>
              <a:pPr/>
              <a:t>7/8/2026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951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4602" y="2678388"/>
            <a:ext cx="15032334" cy="2455391"/>
          </a:xfrm>
        </p:spPr>
        <p:txBody>
          <a:bodyPr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Holder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A180FA-F53F-4097-AFB6-117487A273F1}" type="datetime1">
              <a:rPr lang="en-US"/>
              <a:pPr/>
              <a:t>7/8/2026</a:t>
            </a:fld>
            <a:endParaRPr lang="en-US"/>
          </a:p>
        </p:txBody>
      </p:sp>
      <p:sp>
        <p:nvSpPr>
          <p:cNvPr id="5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73367-9F04-4E5B-BA3E-3A816554926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585530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Holder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55D61B-1552-4BAF-8C03-CB05A84E3139}" type="datetime1">
              <a:rPr lang="en-US"/>
              <a:pPr/>
              <a:t>7/8/2026</a:t>
            </a:fld>
            <a:endParaRPr lang="en-US"/>
          </a:p>
        </p:txBody>
      </p:sp>
      <p:sp>
        <p:nvSpPr>
          <p:cNvPr id="4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E71CA1-3278-4413-979C-7C0FD11A64A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14317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g object 1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3238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27" name="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384300" y="2678113"/>
            <a:ext cx="15032038" cy="245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smtClean="0"/>
          </a:p>
        </p:txBody>
      </p:sp>
      <p:sp>
        <p:nvSpPr>
          <p:cNvPr id="1028" name="Holder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86575" y="4452938"/>
            <a:ext cx="8366125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smtClean="0"/>
          </a:p>
        </p:txBody>
      </p:sp>
      <p:sp>
        <p:nvSpPr>
          <p:cNvPr id="1029" name="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18238" y="9566275"/>
            <a:ext cx="58515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Holder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566275"/>
            <a:ext cx="42068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DD7725CA-254D-4D3E-B7D0-81845F44CD54}" type="datetime1">
              <a:rPr lang="en-US"/>
              <a:pPr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>
            <a:spAutoFit/>
          </a:bodyPr>
          <a:lstStyle>
            <a:lvl1pPr algn="r" eaLnBrk="0" fontAlgn="auto" hangingPunct="0">
              <a:buSzTx/>
              <a:buFontTx/>
              <a:buNone/>
              <a:def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latin typeface="Arial"/>
                <a:ea typeface="Arial"/>
                <a:sym typeface="Wingdings"/>
              </a:defRPr>
            </a:lvl1pPr>
          </a:lstStyle>
          <a:p>
            <a:fld id="{D1365C0B-87B8-4BAE-ACC0-DB4E9749495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4" r:id="rId2"/>
    <p:sldLayoutId id="2147483668" r:id="rId3"/>
    <p:sldLayoutId id="2147483665" r:id="rId4"/>
    <p:sldLayoutId id="2147483666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object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1F2B17">
              <a:alpha val="7799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eaLnBrk="0" fontAlgn="auto" hangingPunct="0">
              <a:buSzTx/>
              <a:buFontTx/>
              <a:buNone/>
            </a:pPr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84300" y="2678113"/>
            <a:ext cx="15032038" cy="2455862"/>
          </a:xfrm>
          <a:ln cap="flat" algn="ctr">
            <a:round/>
            <a:headEnd type="none" w="med" len="med"/>
            <a:tailEnd type="none" w="med" len="med"/>
          </a:ln>
        </p:spPr>
        <p:txBody>
          <a:bodyPr tIns="892021"/>
          <a:lstStyle/>
          <a:p>
            <a:pPr marL="2930525" indent="169863">
              <a:lnSpc>
                <a:spcPct val="116000"/>
              </a:lnSpc>
              <a:spcBef>
                <a:spcPts val="88"/>
              </a:spcBef>
            </a:pPr>
            <a:r>
              <a:rPr lang="ru-RU" sz="4300" smtClean="0">
                <a:solidFill>
                  <a:srgbClr val="FFFFFF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GREEN SKILLING, SUSTAINABILITY, ARTIFICIAL INTELLIGENCE &amp; SDG 17</a:t>
            </a:r>
            <a:endParaRPr lang="ru-RU" sz="4300" smtClean="0">
              <a:solidFill>
                <a:srgbClr val="000000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2362" y="5140325"/>
            <a:ext cx="7246937" cy="128881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12700" rIns="0" bIns="0">
            <a:spAutoFit/>
          </a:bodyPr>
          <a:lstStyle>
            <a:lvl1pPr marL="12668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4000"/>
              </a:lnSpc>
              <a:spcBef>
                <a:spcPts val="100"/>
              </a:spcBef>
            </a:pPr>
            <a:r>
              <a:rPr lang="ru-RU" b="1" dirty="0">
                <a:solidFill>
                  <a:srgbClr val="FFFFFF"/>
                </a:solidFill>
                <a:latin typeface="Arial" panose="020B0604020202020204" pitchFamily="34" charset="0"/>
              </a:rPr>
              <a:t>Name: Patel Yug Ganesh </a:t>
            </a:r>
            <a:endParaRPr lang="en-US" b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100"/>
              </a:spcBef>
            </a:pPr>
            <a:r>
              <a:rPr lang="ru-RU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Enrollment </a:t>
            </a:r>
            <a:r>
              <a:rPr lang="ru-RU" b="1" dirty="0">
                <a:solidFill>
                  <a:srgbClr val="FFFFFF"/>
                </a:solidFill>
                <a:latin typeface="Arial" panose="020B0604020202020204" pitchFamily="34" charset="0"/>
              </a:rPr>
              <a:t>No.: 240840131137</a:t>
            </a:r>
            <a:endParaRPr lang="ru-RU" dirty="0">
              <a:latin typeface="Arial" panose="020B06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ru-RU" b="1" dirty="0">
                <a:solidFill>
                  <a:srgbClr val="FFFFFF"/>
                </a:solidFill>
                <a:latin typeface="Arial" panose="020B0604020202020204" pitchFamily="34" charset="0"/>
              </a:rPr>
              <a:t>Stream: B.Tech Computer </a:t>
            </a:r>
            <a:r>
              <a:rPr lang="ru-RU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Science</a:t>
            </a:r>
            <a:r>
              <a:rPr lang="en-US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&amp;</a:t>
            </a:r>
            <a:r>
              <a:rPr lang="ru-RU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ru-RU" b="1" dirty="0">
                <a:solidFill>
                  <a:srgbClr val="FFFFFF"/>
                </a:solidFill>
                <a:latin typeface="Arial" panose="020B0604020202020204" pitchFamily="34" charset="0"/>
              </a:rPr>
              <a:t>Engineering College: R.N.G. Patel Institute of Technology, Bardoli</a:t>
            </a:r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102" name="object 6"/>
          <p:cNvSpPr>
            <a:spLocks/>
          </p:cNvSpPr>
          <p:nvPr/>
        </p:nvSpPr>
        <p:spPr bwMode="auto">
          <a:xfrm>
            <a:off x="0" y="8277225"/>
            <a:ext cx="18288000" cy="38100"/>
          </a:xfrm>
          <a:custGeom>
            <a:avLst/>
            <a:gdLst>
              <a:gd name="T0" fmla="*/ 0 w 18288000"/>
              <a:gd name="T1" fmla="*/ 38099 h 38100"/>
              <a:gd name="T2" fmla="*/ 0 w 18288000"/>
              <a:gd name="T3" fmla="*/ 0 h 38100"/>
              <a:gd name="T4" fmla="*/ 18288000 w 18288000"/>
              <a:gd name="T5" fmla="*/ 0 h 38100"/>
              <a:gd name="T6" fmla="*/ 18288000 w 18288000"/>
              <a:gd name="T7" fmla="*/ 38099 h 38100"/>
              <a:gd name="T8" fmla="*/ 0 w 18288000"/>
              <a:gd name="T9" fmla="*/ 38099 h 38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8000" y="0"/>
                </a:lnTo>
                <a:lnTo>
                  <a:pt x="18288000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2978150" y="8602663"/>
            <a:ext cx="2411413" cy="2079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ru-RU" sz="12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R.N.G. Patel Institute of Technology</a:t>
            </a:r>
            <a:endParaRPr lang="ru-RU" sz="12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49300" y="8602663"/>
            <a:ext cx="1819275" cy="2079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ru-RU" sz="12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SDG 17 · AI · Green Skilling</a:t>
            </a:r>
            <a:endParaRPr lang="ru-RU" sz="12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0063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84300" y="2678113"/>
            <a:ext cx="15032038" cy="2455862"/>
          </a:xfrm>
          <a:ln cap="flat" algn="ctr">
            <a:round/>
            <a:headEnd type="none" w="med" len="med"/>
            <a:tailEnd type="none" w="med" len="med"/>
          </a:ln>
        </p:spPr>
        <p:txBody>
          <a:bodyPr tIns="717593"/>
          <a:lstStyle/>
          <a:p>
            <a:pPr marL="5853113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5124" name="object 4"/>
          <p:cNvSpPr>
            <a:spLocks/>
          </p:cNvSpPr>
          <p:nvPr/>
        </p:nvSpPr>
        <p:spPr bwMode="auto">
          <a:xfrm>
            <a:off x="2778125" y="5143500"/>
            <a:ext cx="3876675" cy="2914650"/>
          </a:xfrm>
          <a:custGeom>
            <a:avLst/>
            <a:gdLst>
              <a:gd name="T0" fmla="*/ 339875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2 w 3876040"/>
              <a:gd name="T7" fmla="*/ 2866723 h 2914650"/>
              <a:gd name="T8" fmla="*/ 140829 w 3876040"/>
              <a:gd name="T9" fmla="*/ 2840724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4 w 3876040"/>
              <a:gd name="T17" fmla="*/ 2695083 h 2914650"/>
              <a:gd name="T18" fmla="*/ 12990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59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30 w 3876040"/>
              <a:gd name="T39" fmla="*/ 75413 h 2914650"/>
              <a:gd name="T40" fmla="*/ 179322 w 3876040"/>
              <a:gd name="T41" fmla="*/ 49414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4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1 w 3876040"/>
              <a:gd name="T63" fmla="*/ 106008 h 2914650"/>
              <a:gd name="T64" fmla="*/ 3800156 w 3876040"/>
              <a:gd name="T65" fmla="*/ 140767 h 2914650"/>
              <a:gd name="T66" fmla="*/ 3826155 w 3876040"/>
              <a:gd name="T67" fmla="*/ 179259 h 2914650"/>
              <a:gd name="T68" fmla="*/ 3847127 w 3876040"/>
              <a:gd name="T69" fmla="*/ 221054 h 2914650"/>
              <a:gd name="T70" fmla="*/ 3862641 w 3876040"/>
              <a:gd name="T71" fmla="*/ 265718 h 2914650"/>
              <a:gd name="T72" fmla="*/ 3872266 w 3876040"/>
              <a:gd name="T73" fmla="*/ 312823 h 2914650"/>
              <a:gd name="T74" fmla="*/ 3875570 w 3876040"/>
              <a:gd name="T75" fmla="*/ 361935 h 2914650"/>
              <a:gd name="T76" fmla="*/ 3875570 w 3876040"/>
              <a:gd name="T77" fmla="*/ 2554201 h 2914650"/>
              <a:gd name="T78" fmla="*/ 3872266 w 3876040"/>
              <a:gd name="T79" fmla="*/ 2603314 h 2914650"/>
              <a:gd name="T80" fmla="*/ 3862641 w 3876040"/>
              <a:gd name="T81" fmla="*/ 2650418 h 2914650"/>
              <a:gd name="T82" fmla="*/ 3847127 w 3876040"/>
              <a:gd name="T83" fmla="*/ 2695083 h 2914650"/>
              <a:gd name="T84" fmla="*/ 3826155 w 3876040"/>
              <a:gd name="T85" fmla="*/ 2736878 h 2914650"/>
              <a:gd name="T86" fmla="*/ 3800156 w 3876040"/>
              <a:gd name="T87" fmla="*/ 2775370 h 2914650"/>
              <a:gd name="T88" fmla="*/ 3769561 w 3876040"/>
              <a:gd name="T89" fmla="*/ 2810129 h 2914650"/>
              <a:gd name="T90" fmla="*/ 3734802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7 w 3876040"/>
              <a:gd name="T99" fmla="*/ 2912834 h 2914650"/>
              <a:gd name="T100" fmla="*/ 3535757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5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2" y="2866723"/>
                </a:lnTo>
                <a:lnTo>
                  <a:pt x="140829" y="2840724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4" y="2695083"/>
                </a:lnTo>
                <a:lnTo>
                  <a:pt x="12990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59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30" y="75413"/>
                </a:lnTo>
                <a:lnTo>
                  <a:pt x="179322" y="49414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4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1" y="106008"/>
                </a:lnTo>
                <a:lnTo>
                  <a:pt x="3800156" y="140767"/>
                </a:lnTo>
                <a:lnTo>
                  <a:pt x="3826155" y="179259"/>
                </a:lnTo>
                <a:lnTo>
                  <a:pt x="3847127" y="221054"/>
                </a:lnTo>
                <a:lnTo>
                  <a:pt x="3862641" y="265718"/>
                </a:lnTo>
                <a:lnTo>
                  <a:pt x="3872266" y="312823"/>
                </a:lnTo>
                <a:lnTo>
                  <a:pt x="3875570" y="361935"/>
                </a:lnTo>
                <a:lnTo>
                  <a:pt x="3875570" y="2554201"/>
                </a:lnTo>
                <a:lnTo>
                  <a:pt x="3872266" y="2603314"/>
                </a:lnTo>
                <a:lnTo>
                  <a:pt x="3862641" y="2650418"/>
                </a:lnTo>
                <a:lnTo>
                  <a:pt x="3847127" y="2695083"/>
                </a:lnTo>
                <a:lnTo>
                  <a:pt x="3826155" y="2736878"/>
                </a:lnTo>
                <a:lnTo>
                  <a:pt x="3800156" y="2775370"/>
                </a:lnTo>
                <a:lnTo>
                  <a:pt x="3769561" y="2810129"/>
                </a:lnTo>
                <a:lnTo>
                  <a:pt x="3734802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7" y="2912834"/>
                </a:lnTo>
                <a:lnTo>
                  <a:pt x="3535757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5" name="object 5"/>
          <p:cNvSpPr txBox="1"/>
          <p:nvPr/>
        </p:nvSpPr>
        <p:spPr>
          <a:xfrm>
            <a:off x="3703638" y="5310188"/>
            <a:ext cx="2022475" cy="18478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algn="ctr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01</a:t>
            </a:r>
            <a:endParaRPr sz="4000">
              <a:latin typeface="Arial"/>
            </a:endParaRPr>
          </a:p>
          <a:p>
            <a:pPr marL="406400" marR="398780" algn="ctr" eaLnBrk="0" fontAlgn="auto" hangingPunct="0">
              <a:lnSpc>
                <a:spcPct val="116700"/>
              </a:lnSpc>
              <a:spcBef>
                <a:spcPts val="3225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Skilling Sustainability</a:t>
            </a:r>
            <a:endParaRPr sz="1500">
              <a:latin typeface="Arial"/>
            </a:endParaRPr>
          </a:p>
          <a:p>
            <a:pPr algn="ctr" eaLnBrk="0" fontAlgn="auto" hangingPunct="0">
              <a:spcBef>
                <a:spcPts val="300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SDG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17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Partnerships</a:t>
            </a:r>
            <a:endParaRPr sz="1500">
              <a:latin typeface="Arial"/>
            </a:endParaRPr>
          </a:p>
        </p:txBody>
      </p:sp>
      <p:sp>
        <p:nvSpPr>
          <p:cNvPr id="5126" name="object 6"/>
          <p:cNvSpPr>
            <a:spLocks/>
          </p:cNvSpPr>
          <p:nvPr/>
        </p:nvSpPr>
        <p:spPr bwMode="auto">
          <a:xfrm>
            <a:off x="7197725" y="5143500"/>
            <a:ext cx="3876675" cy="2914650"/>
          </a:xfrm>
          <a:custGeom>
            <a:avLst/>
            <a:gdLst>
              <a:gd name="T0" fmla="*/ 339875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2 w 3876040"/>
              <a:gd name="T7" fmla="*/ 2866723 h 2914650"/>
              <a:gd name="T8" fmla="*/ 140829 w 3876040"/>
              <a:gd name="T9" fmla="*/ 2840723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5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60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30 w 3876040"/>
              <a:gd name="T39" fmla="*/ 75414 h 2914650"/>
              <a:gd name="T40" fmla="*/ 179322 w 3876040"/>
              <a:gd name="T41" fmla="*/ 49415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3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2 w 3876040"/>
              <a:gd name="T63" fmla="*/ 106008 h 2914650"/>
              <a:gd name="T64" fmla="*/ 3800157 w 3876040"/>
              <a:gd name="T65" fmla="*/ 140767 h 2914650"/>
              <a:gd name="T66" fmla="*/ 3826156 w 3876040"/>
              <a:gd name="T67" fmla="*/ 179259 h 2914650"/>
              <a:gd name="T68" fmla="*/ 3847128 w 3876040"/>
              <a:gd name="T69" fmla="*/ 221053 h 2914650"/>
              <a:gd name="T70" fmla="*/ 3862642 w 3876040"/>
              <a:gd name="T71" fmla="*/ 265718 h 2914650"/>
              <a:gd name="T72" fmla="*/ 3872267 w 3876040"/>
              <a:gd name="T73" fmla="*/ 312823 h 2914650"/>
              <a:gd name="T74" fmla="*/ 3875571 w 3876040"/>
              <a:gd name="T75" fmla="*/ 361935 h 2914650"/>
              <a:gd name="T76" fmla="*/ 3875571 w 3876040"/>
              <a:gd name="T77" fmla="*/ 2554201 h 2914650"/>
              <a:gd name="T78" fmla="*/ 3872267 w 3876040"/>
              <a:gd name="T79" fmla="*/ 2603314 h 2914650"/>
              <a:gd name="T80" fmla="*/ 3862642 w 3876040"/>
              <a:gd name="T81" fmla="*/ 2650419 h 2914650"/>
              <a:gd name="T82" fmla="*/ 3847128 w 3876040"/>
              <a:gd name="T83" fmla="*/ 2695084 h 2914650"/>
              <a:gd name="T84" fmla="*/ 3826156 w 3876040"/>
              <a:gd name="T85" fmla="*/ 2736878 h 2914650"/>
              <a:gd name="T86" fmla="*/ 3800157 w 3876040"/>
              <a:gd name="T87" fmla="*/ 2775370 h 2914650"/>
              <a:gd name="T88" fmla="*/ 3769562 w 3876040"/>
              <a:gd name="T89" fmla="*/ 2810129 h 2914650"/>
              <a:gd name="T90" fmla="*/ 3734803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6 w 3876040"/>
              <a:gd name="T99" fmla="*/ 2912834 h 2914650"/>
              <a:gd name="T100" fmla="*/ 3535758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5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2" y="2866723"/>
                </a:lnTo>
                <a:lnTo>
                  <a:pt x="140829" y="2840723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5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60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30" y="75414"/>
                </a:lnTo>
                <a:lnTo>
                  <a:pt x="179322" y="49415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3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2" y="106008"/>
                </a:lnTo>
                <a:lnTo>
                  <a:pt x="3800157" y="140767"/>
                </a:lnTo>
                <a:lnTo>
                  <a:pt x="3826156" y="179259"/>
                </a:lnTo>
                <a:lnTo>
                  <a:pt x="3847128" y="221053"/>
                </a:lnTo>
                <a:lnTo>
                  <a:pt x="3862642" y="265718"/>
                </a:lnTo>
                <a:lnTo>
                  <a:pt x="3872267" y="312823"/>
                </a:lnTo>
                <a:lnTo>
                  <a:pt x="3875571" y="361935"/>
                </a:lnTo>
                <a:lnTo>
                  <a:pt x="3875571" y="2554201"/>
                </a:lnTo>
                <a:lnTo>
                  <a:pt x="3872267" y="2603314"/>
                </a:lnTo>
                <a:lnTo>
                  <a:pt x="3862642" y="2650419"/>
                </a:lnTo>
                <a:lnTo>
                  <a:pt x="3847128" y="2695084"/>
                </a:lnTo>
                <a:lnTo>
                  <a:pt x="3826156" y="2736878"/>
                </a:lnTo>
                <a:lnTo>
                  <a:pt x="3800157" y="2775370"/>
                </a:lnTo>
                <a:lnTo>
                  <a:pt x="3769562" y="2810129"/>
                </a:lnTo>
                <a:lnTo>
                  <a:pt x="3734803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6" y="2912834"/>
                </a:lnTo>
                <a:lnTo>
                  <a:pt x="3535758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7886700" y="5310188"/>
            <a:ext cx="2498725" cy="18478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algn="ctr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02</a:t>
            </a:r>
            <a:endParaRPr sz="4000">
              <a:latin typeface="Arial"/>
            </a:endParaRPr>
          </a:p>
          <a:p>
            <a:pPr marL="12700" marR="5080" algn="ctr" eaLnBrk="0" fontAlgn="auto" hangingPunct="0">
              <a:lnSpc>
                <a:spcPct val="116700"/>
              </a:lnSpc>
              <a:spcBef>
                <a:spcPts val="3225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Learnings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from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Resources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Centres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Environment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Sustainability</a:t>
            </a:r>
            <a:endParaRPr sz="1500">
              <a:latin typeface="Arial"/>
            </a:endParaRPr>
          </a:p>
        </p:txBody>
      </p:sp>
      <p:sp>
        <p:nvSpPr>
          <p:cNvPr id="5128" name="object 8"/>
          <p:cNvSpPr>
            <a:spLocks/>
          </p:cNvSpPr>
          <p:nvPr/>
        </p:nvSpPr>
        <p:spPr bwMode="auto">
          <a:xfrm>
            <a:off x="11618913" y="5143500"/>
            <a:ext cx="3876675" cy="2914650"/>
          </a:xfrm>
          <a:custGeom>
            <a:avLst/>
            <a:gdLst>
              <a:gd name="T0" fmla="*/ 339875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1 w 3876040"/>
              <a:gd name="T7" fmla="*/ 2866723 h 2914650"/>
              <a:gd name="T8" fmla="*/ 140829 w 3876040"/>
              <a:gd name="T9" fmla="*/ 2840723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5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60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29 w 3876040"/>
              <a:gd name="T39" fmla="*/ 75414 h 2914650"/>
              <a:gd name="T40" fmla="*/ 179322 w 3876040"/>
              <a:gd name="T41" fmla="*/ 49415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3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1 w 3876040"/>
              <a:gd name="T63" fmla="*/ 106008 h 2914650"/>
              <a:gd name="T64" fmla="*/ 3800156 w 3876040"/>
              <a:gd name="T65" fmla="*/ 140767 h 2914650"/>
              <a:gd name="T66" fmla="*/ 3826155 w 3876040"/>
              <a:gd name="T67" fmla="*/ 179259 h 2914650"/>
              <a:gd name="T68" fmla="*/ 3847127 w 3876040"/>
              <a:gd name="T69" fmla="*/ 221054 h 2914650"/>
              <a:gd name="T70" fmla="*/ 3862641 w 3876040"/>
              <a:gd name="T71" fmla="*/ 265718 h 2914650"/>
              <a:gd name="T72" fmla="*/ 3872266 w 3876040"/>
              <a:gd name="T73" fmla="*/ 312823 h 2914650"/>
              <a:gd name="T74" fmla="*/ 3875570 w 3876040"/>
              <a:gd name="T75" fmla="*/ 361935 h 2914650"/>
              <a:gd name="T76" fmla="*/ 3875570 w 3876040"/>
              <a:gd name="T77" fmla="*/ 2554201 h 2914650"/>
              <a:gd name="T78" fmla="*/ 3872266 w 3876040"/>
              <a:gd name="T79" fmla="*/ 2603314 h 2914650"/>
              <a:gd name="T80" fmla="*/ 3862641 w 3876040"/>
              <a:gd name="T81" fmla="*/ 2650418 h 2914650"/>
              <a:gd name="T82" fmla="*/ 3847127 w 3876040"/>
              <a:gd name="T83" fmla="*/ 2695083 h 2914650"/>
              <a:gd name="T84" fmla="*/ 3826155 w 3876040"/>
              <a:gd name="T85" fmla="*/ 2736878 h 2914650"/>
              <a:gd name="T86" fmla="*/ 3800156 w 3876040"/>
              <a:gd name="T87" fmla="*/ 2775370 h 2914650"/>
              <a:gd name="T88" fmla="*/ 3769561 w 3876040"/>
              <a:gd name="T89" fmla="*/ 2810129 h 2914650"/>
              <a:gd name="T90" fmla="*/ 3734802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6 w 3876040"/>
              <a:gd name="T99" fmla="*/ 2912834 h 2914650"/>
              <a:gd name="T100" fmla="*/ 3535758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5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1" y="2866723"/>
                </a:lnTo>
                <a:lnTo>
                  <a:pt x="140829" y="2840723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5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60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29" y="75414"/>
                </a:lnTo>
                <a:lnTo>
                  <a:pt x="179322" y="49415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3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1" y="106008"/>
                </a:lnTo>
                <a:lnTo>
                  <a:pt x="3800156" y="140767"/>
                </a:lnTo>
                <a:lnTo>
                  <a:pt x="3826155" y="179259"/>
                </a:lnTo>
                <a:lnTo>
                  <a:pt x="3847127" y="221054"/>
                </a:lnTo>
                <a:lnTo>
                  <a:pt x="3862641" y="265718"/>
                </a:lnTo>
                <a:lnTo>
                  <a:pt x="3872266" y="312823"/>
                </a:lnTo>
                <a:lnTo>
                  <a:pt x="3875570" y="361935"/>
                </a:lnTo>
                <a:lnTo>
                  <a:pt x="3875570" y="2554201"/>
                </a:lnTo>
                <a:lnTo>
                  <a:pt x="3872266" y="2603314"/>
                </a:lnTo>
                <a:lnTo>
                  <a:pt x="3862641" y="2650418"/>
                </a:lnTo>
                <a:lnTo>
                  <a:pt x="3847127" y="2695083"/>
                </a:lnTo>
                <a:lnTo>
                  <a:pt x="3826155" y="2736878"/>
                </a:lnTo>
                <a:lnTo>
                  <a:pt x="3800156" y="2775370"/>
                </a:lnTo>
                <a:lnTo>
                  <a:pt x="3769561" y="2810129"/>
                </a:lnTo>
                <a:lnTo>
                  <a:pt x="3734802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6" y="2912834"/>
                </a:lnTo>
                <a:lnTo>
                  <a:pt x="3535758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9" name="object 9"/>
          <p:cNvSpPr txBox="1"/>
          <p:nvPr/>
        </p:nvSpPr>
        <p:spPr>
          <a:xfrm>
            <a:off x="12665075" y="5310188"/>
            <a:ext cx="1784350" cy="21145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marL="20955" algn="ctr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03</a:t>
            </a:r>
            <a:endParaRPr sz="4000">
              <a:latin typeface="Arial"/>
            </a:endParaRPr>
          </a:p>
          <a:p>
            <a:pPr marL="12700" marR="5080" indent="-635" algn="ctr" eaLnBrk="0" fontAlgn="auto" hangingPunct="0">
              <a:lnSpc>
                <a:spcPct val="116700"/>
              </a:lnSpc>
              <a:spcBef>
                <a:spcPts val="3225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Challenges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z="1500" spc="-6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Activities</a:t>
            </a:r>
            <a:r>
              <a:rPr sz="1500" spc="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Completed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Capstone</a:t>
            </a:r>
            <a:r>
              <a:rPr sz="1500" spc="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Project References</a:t>
            </a:r>
            <a:endParaRPr sz="1500">
              <a:latin typeface="Arial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700"/>
            <a:ext cx="1828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97250" y="1763713"/>
            <a:ext cx="11401425" cy="1125537"/>
          </a:xfrm>
          <a:ln cap="flat" algn="ctr">
            <a:round/>
            <a:headEnd type="none" w="med" len="med"/>
            <a:tailEnd type="none" w="med" len="med"/>
          </a:ln>
        </p:spPr>
        <p:txBody>
          <a:bodyPr tIns="14604"/>
          <a:lstStyle/>
          <a:p>
            <a:pPr marL="12700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WHAT IS GREEN SKILLING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6663" y="3581400"/>
            <a:ext cx="3357562" cy="33004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065" rIns="0" bIns="0">
            <a:spAutoFit/>
          </a:bodyPr>
          <a:lstStyle>
            <a:lvl1pPr marL="111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88"/>
              </a:spcBef>
            </a:pPr>
            <a:r>
              <a:rPr lang="ru-RU" sz="5400" b="1">
                <a:latin typeface="Arial" panose="020B0604020202020204" pitchFamily="34" charset="0"/>
              </a:rPr>
              <a:t>1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lnSpc>
                <a:spcPct val="113000"/>
              </a:lnSpc>
              <a:spcBef>
                <a:spcPts val="2550"/>
              </a:spcBef>
            </a:pPr>
            <a:r>
              <a:rPr lang="ru-RU" sz="1700">
                <a:latin typeface="Arial" panose="020B0604020202020204" pitchFamily="34" charset="0"/>
              </a:rPr>
              <a:t>Green Skilling is the process of developing knowledge, skills, and competencies needed for a sustainable, low-carbon economy.</a:t>
            </a:r>
          </a:p>
          <a:p>
            <a:pPr algn="ctr">
              <a:lnSpc>
                <a:spcPct val="113000"/>
              </a:lnSpc>
            </a:pPr>
            <a:r>
              <a:rPr lang="ru-RU" sz="1700">
                <a:latin typeface="Arial" panose="020B0604020202020204" pitchFamily="34" charset="0"/>
              </a:rPr>
              <a:t>It prepares tech professionals to design eco-friendly solutions and drive green innovation.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83463" y="3581400"/>
            <a:ext cx="3398837" cy="36052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065" rIns="0" bIns="0">
            <a:spAutoFit/>
          </a:bodyPr>
          <a:lstStyle>
            <a:lvl1pPr marL="285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88"/>
              </a:spcBef>
            </a:pPr>
            <a:r>
              <a:rPr lang="ru-RU" sz="5400" b="1">
                <a:latin typeface="Arial" panose="020B0604020202020204" pitchFamily="34" charset="0"/>
              </a:rPr>
              <a:t>2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lnSpc>
                <a:spcPct val="113000"/>
              </a:lnSpc>
              <a:spcBef>
                <a:spcPts val="2550"/>
              </a:spcBef>
            </a:pPr>
            <a:r>
              <a:rPr lang="ru-RU" sz="1700">
                <a:latin typeface="Arial" panose="020B0604020202020204" pitchFamily="34" charset="0"/>
              </a:rPr>
              <a:t>Green Jobs &amp; Key Sectors include Renewable Energy, Sustainable Agriculture, Green Construction, Clean Transportation, and Environmental Management.</a:t>
            </a:r>
          </a:p>
          <a:p>
            <a:pPr algn="ctr">
              <a:lnSpc>
                <a:spcPct val="113000"/>
              </a:lnSpc>
            </a:pPr>
            <a:r>
              <a:rPr lang="ru-RU" sz="1700">
                <a:latin typeface="Arial" panose="020B0604020202020204" pitchFamily="34" charset="0"/>
              </a:rPr>
              <a:t>These sectors are rapidly growing and demand digitally skilled graduates.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90438" y="3581400"/>
            <a:ext cx="3422650" cy="36052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065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88"/>
              </a:spcBef>
            </a:pPr>
            <a:r>
              <a:rPr lang="ru-RU" sz="5400" b="1">
                <a:latin typeface="Arial" panose="020B0604020202020204" pitchFamily="34" charset="0"/>
              </a:rPr>
              <a:t>3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lnSpc>
                <a:spcPct val="113000"/>
              </a:lnSpc>
              <a:spcBef>
                <a:spcPts val="2550"/>
              </a:spcBef>
            </a:pPr>
            <a:r>
              <a:rPr lang="ru-RU" sz="1700">
                <a:latin typeface="Arial" panose="020B0604020202020204" pitchFamily="34" charset="0"/>
              </a:rPr>
              <a:t>Renewable Energy Skills &amp; Career Benefits: Proficiency in solar, wind, and smart grid technologies boosts employability. Green-skilled engineers command</a:t>
            </a:r>
          </a:p>
          <a:p>
            <a:pPr algn="ctr">
              <a:lnSpc>
                <a:spcPct val="113000"/>
              </a:lnSpc>
            </a:pPr>
            <a:r>
              <a:rPr lang="ru-RU" sz="1700">
                <a:latin typeface="Arial" panose="020B0604020202020204" pitchFamily="34" charset="0"/>
              </a:rPr>
              <a:t>higher demand in AI, IoT, and sustainable tech industries globally.</a:t>
            </a:r>
          </a:p>
        </p:txBody>
      </p:sp>
      <p:grpSp>
        <p:nvGrpSpPr>
          <p:cNvPr id="6151" name="object 7"/>
          <p:cNvGrpSpPr>
            <a:grpSpLocks/>
          </p:cNvGrpSpPr>
          <p:nvPr/>
        </p:nvGrpSpPr>
        <p:grpSpPr bwMode="auto">
          <a:xfrm>
            <a:off x="6615113" y="3803650"/>
            <a:ext cx="4997450" cy="2581275"/>
            <a:chOff x="6615076" y="3803034"/>
            <a:chExt cx="4996815" cy="2581910"/>
          </a:xfrm>
        </p:grpSpPr>
        <p:sp>
          <p:nvSpPr>
            <p:cNvPr id="6152" name="object 8"/>
            <p:cNvSpPr>
              <a:spLocks/>
            </p:cNvSpPr>
            <p:nvPr/>
          </p:nvSpPr>
          <p:spPr bwMode="auto">
            <a:xfrm>
              <a:off x="6634126" y="3803034"/>
              <a:ext cx="0" cy="2581910"/>
            </a:xfrm>
            <a:custGeom>
              <a:avLst/>
              <a:gdLst>
                <a:gd name="T0" fmla="*/ 0 w 21600"/>
                <a:gd name="T1" fmla="*/ 2581419 h 2581910"/>
                <a:gd name="T2" fmla="*/ 0 w 21600"/>
                <a:gd name="T3" fmla="*/ 0 h 258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00" h="2581910">
                  <a:moveTo>
                    <a:pt x="0" y="2581419"/>
                  </a:moveTo>
                  <a:lnTo>
                    <a:pt x="0" y="0"/>
                  </a:lnTo>
                </a:path>
              </a:pathLst>
            </a:custGeom>
            <a:noFill/>
            <a:ln w="38099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6153" name="object 9"/>
            <p:cNvSpPr>
              <a:spLocks/>
            </p:cNvSpPr>
            <p:nvPr/>
          </p:nvSpPr>
          <p:spPr bwMode="auto">
            <a:xfrm>
              <a:off x="11592682" y="3803034"/>
              <a:ext cx="0" cy="2581910"/>
            </a:xfrm>
            <a:custGeom>
              <a:avLst/>
              <a:gdLst>
                <a:gd name="T0" fmla="*/ 0 w 21600"/>
                <a:gd name="T1" fmla="*/ 2581419 h 2581910"/>
                <a:gd name="T2" fmla="*/ 0 w 21600"/>
                <a:gd name="T3" fmla="*/ 0 h 258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00" h="2581910">
                  <a:moveTo>
                    <a:pt x="0" y="2581419"/>
                  </a:moveTo>
                  <a:lnTo>
                    <a:pt x="0" y="0"/>
                  </a:lnTo>
                </a:path>
              </a:pathLst>
            </a:custGeom>
            <a:noFill/>
            <a:ln w="38099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700"/>
            <a:ext cx="1828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27663" y="1763713"/>
            <a:ext cx="7339012" cy="1127125"/>
          </a:xfrm>
          <a:ln cap="flat" algn="ctr">
            <a:round/>
            <a:headEnd type="none" w="med" len="med"/>
            <a:tailEnd type="none" w="med" len="med"/>
          </a:ln>
        </p:spPr>
        <p:txBody>
          <a:bodyPr tIns="15240"/>
          <a:lstStyle/>
          <a:p>
            <a:pPr marL="12700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SUSTAINABILITY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68575" y="3581400"/>
            <a:ext cx="3233738" cy="34194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3159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100"/>
              </a:spcBef>
            </a:pPr>
            <a:r>
              <a:rPr lang="ru-RU" sz="5400" b="1">
                <a:latin typeface="Arial" panose="020B0604020202020204" pitchFamily="34" charset="0"/>
              </a:rPr>
              <a:t>1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lnSpc>
                <a:spcPct val="113000"/>
              </a:lnSpc>
              <a:spcBef>
                <a:spcPts val="2150"/>
              </a:spcBef>
            </a:pPr>
            <a:r>
              <a:rPr lang="ru-RU" sz="21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🌿 </a:t>
            </a:r>
            <a:r>
              <a:rPr lang="ru-RU">
                <a:latin typeface="Arial" panose="020B0604020202020204" pitchFamily="34" charset="0"/>
              </a:rPr>
              <a:t>Environmental Resource conservation &amp;</a:t>
            </a:r>
          </a:p>
          <a:p>
            <a:pPr algn="ctr">
              <a:lnSpc>
                <a:spcPct val="118000"/>
              </a:lnSpc>
            </a:pPr>
            <a:r>
              <a:rPr lang="ru-RU">
                <a:latin typeface="Arial" panose="020B0604020202020204" pitchFamily="34" charset="0"/>
              </a:rPr>
              <a:t>efficient use of natural assets. Pollution reduction, biodiversity protection, and minimizing ecological footprint for a healthier planet.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00925" y="3581400"/>
            <a:ext cx="3362325" cy="3095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285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100"/>
              </a:spcBef>
            </a:pPr>
            <a:r>
              <a:rPr lang="ru-RU" sz="5400" b="1">
                <a:latin typeface="Arial" panose="020B0604020202020204" pitchFamily="34" charset="0"/>
              </a:rPr>
              <a:t>2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spcBef>
                <a:spcPts val="2775"/>
              </a:spcBef>
            </a:pPr>
            <a:r>
              <a:rPr lang="ru-RU" sz="17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🤝 </a:t>
            </a:r>
            <a:r>
              <a:rPr lang="ru-RU">
                <a:latin typeface="Arial" panose="020B0604020202020204" pitchFamily="34" charset="0"/>
              </a:rPr>
              <a:t>Social</a:t>
            </a:r>
          </a:p>
          <a:p>
            <a:pPr algn="ctr">
              <a:lnSpc>
                <a:spcPct val="118000"/>
              </a:lnSpc>
            </a:pPr>
            <a:r>
              <a:rPr lang="ru-RU">
                <a:latin typeface="Arial" panose="020B0604020202020204" pitchFamily="34" charset="0"/>
              </a:rPr>
              <a:t>Promoting equity, inclusion, and community well-being. Ensuring access to education, healthcare, and opportunity for all people across generations.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453938" y="3581400"/>
            <a:ext cx="3297237" cy="3095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100"/>
              </a:spcBef>
            </a:pPr>
            <a:r>
              <a:rPr lang="ru-RU" sz="5400" b="1">
                <a:latin typeface="Arial" panose="020B0604020202020204" pitchFamily="34" charset="0"/>
              </a:rPr>
              <a:t>3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spcBef>
                <a:spcPts val="2475"/>
              </a:spcBef>
            </a:pPr>
            <a:r>
              <a:rPr lang="ru-RU" sz="21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💰 </a:t>
            </a:r>
            <a:r>
              <a:rPr lang="ru-RU">
                <a:latin typeface="Arial" panose="020B0604020202020204" pitchFamily="34" charset="0"/>
              </a:rPr>
              <a:t>Economic</a:t>
            </a:r>
          </a:p>
          <a:p>
            <a:pPr algn="ctr">
              <a:lnSpc>
                <a:spcPts val="2550"/>
              </a:lnSpc>
              <a:spcBef>
                <a:spcPts val="38"/>
              </a:spcBef>
            </a:pPr>
            <a:r>
              <a:rPr lang="ru-RU">
                <a:latin typeface="Arial" panose="020B0604020202020204" pitchFamily="34" charset="0"/>
              </a:rPr>
              <a:t>Long-term viable growth that balances prosperity with responsibility. Sustainable business models, green jobs, and circular economy practices.</a:t>
            </a:r>
          </a:p>
        </p:txBody>
      </p:sp>
      <p:grpSp>
        <p:nvGrpSpPr>
          <p:cNvPr id="7175" name="object 7"/>
          <p:cNvGrpSpPr>
            <a:grpSpLocks/>
          </p:cNvGrpSpPr>
          <p:nvPr/>
        </p:nvGrpSpPr>
        <p:grpSpPr bwMode="auto">
          <a:xfrm>
            <a:off x="6615113" y="3803650"/>
            <a:ext cx="4997450" cy="2581275"/>
            <a:chOff x="6615076" y="3803034"/>
            <a:chExt cx="4996815" cy="2581910"/>
          </a:xfrm>
        </p:grpSpPr>
        <p:sp>
          <p:nvSpPr>
            <p:cNvPr id="7176" name="object 8"/>
            <p:cNvSpPr>
              <a:spLocks/>
            </p:cNvSpPr>
            <p:nvPr/>
          </p:nvSpPr>
          <p:spPr bwMode="auto">
            <a:xfrm>
              <a:off x="6634126" y="3803034"/>
              <a:ext cx="0" cy="2581910"/>
            </a:xfrm>
            <a:custGeom>
              <a:avLst/>
              <a:gdLst>
                <a:gd name="T0" fmla="*/ 0 w 21600"/>
                <a:gd name="T1" fmla="*/ 2581419 h 2581910"/>
                <a:gd name="T2" fmla="*/ 0 w 21600"/>
                <a:gd name="T3" fmla="*/ 0 h 258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00" h="2581910">
                  <a:moveTo>
                    <a:pt x="0" y="2581419"/>
                  </a:moveTo>
                  <a:lnTo>
                    <a:pt x="0" y="0"/>
                  </a:lnTo>
                </a:path>
              </a:pathLst>
            </a:custGeom>
            <a:noFill/>
            <a:ln w="38099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7177" name="object 9"/>
            <p:cNvSpPr>
              <a:spLocks/>
            </p:cNvSpPr>
            <p:nvPr/>
          </p:nvSpPr>
          <p:spPr bwMode="auto">
            <a:xfrm>
              <a:off x="11592682" y="3803034"/>
              <a:ext cx="0" cy="2581910"/>
            </a:xfrm>
            <a:custGeom>
              <a:avLst/>
              <a:gdLst>
                <a:gd name="T0" fmla="*/ 0 w 21600"/>
                <a:gd name="T1" fmla="*/ 2581419 h 2581910"/>
                <a:gd name="T2" fmla="*/ 0 w 21600"/>
                <a:gd name="T3" fmla="*/ 0 h 258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00" h="2581910">
                  <a:moveTo>
                    <a:pt x="0" y="2581419"/>
                  </a:moveTo>
                  <a:lnTo>
                    <a:pt x="0" y="0"/>
                  </a:lnTo>
                </a:path>
              </a:pathLst>
            </a:custGeom>
            <a:noFill/>
            <a:ln w="38099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object 2"/>
          <p:cNvGrpSpPr>
            <a:grpSpLocks/>
          </p:cNvGrpSpPr>
          <p:nvPr/>
        </p:nvGrpSpPr>
        <p:grpSpPr bwMode="auto">
          <a:xfrm>
            <a:off x="0" y="0"/>
            <a:ext cx="18284825" cy="10287000"/>
            <a:chOff x="0" y="0"/>
            <a:chExt cx="18284189" cy="10287000"/>
          </a:xfrm>
        </p:grpSpPr>
        <p:sp>
          <p:nvSpPr>
            <p:cNvPr id="8195" name="object 3"/>
            <p:cNvSpPr>
              <a:spLocks/>
            </p:cNvSpPr>
            <p:nvPr/>
          </p:nvSpPr>
          <p:spPr bwMode="auto">
            <a:xfrm>
              <a:off x="0" y="0"/>
              <a:ext cx="3343275" cy="10287000"/>
            </a:xfrm>
            <a:custGeom>
              <a:avLst/>
              <a:gdLst>
                <a:gd name="T0" fmla="*/ 3343274 w 3343275"/>
                <a:gd name="T1" fmla="*/ 10287000 h 10287000"/>
                <a:gd name="T2" fmla="*/ 0 w 3343275"/>
                <a:gd name="T3" fmla="*/ 10287000 h 10287000"/>
                <a:gd name="T4" fmla="*/ 0 w 3343275"/>
                <a:gd name="T5" fmla="*/ 0 h 10287000"/>
                <a:gd name="T6" fmla="*/ 3343274 w 3343275"/>
                <a:gd name="T7" fmla="*/ 0 h 10287000"/>
                <a:gd name="T8" fmla="*/ 3343274 w 3343275"/>
                <a:gd name="T9" fmla="*/ 10287000 h 10287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3275" h="10287000">
                  <a:moveTo>
                    <a:pt x="3343274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3343274" y="0"/>
                  </a:lnTo>
                  <a:lnTo>
                    <a:pt x="3343274" y="10287000"/>
                  </a:lnTo>
                  <a:close/>
                </a:path>
              </a:pathLst>
            </a:custGeom>
            <a:solidFill>
              <a:srgbClr val="33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pic>
          <p:nvPicPr>
            <p:cNvPr id="8196" name="object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8700" y="1028700"/>
              <a:ext cx="4629149" cy="822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</p:pic>
      </p:grpSp>
      <p:sp>
        <p:nvSpPr>
          <p:cNvPr id="5" name="object 5"/>
          <p:cNvSpPr txBox="1"/>
          <p:nvPr/>
        </p:nvSpPr>
        <p:spPr>
          <a:xfrm>
            <a:off x="7350125" y="4291013"/>
            <a:ext cx="8145463" cy="49815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73660" rIns="0" bIns="0">
            <a:spAutoFit/>
          </a:bodyPr>
          <a:lstStyle>
            <a:lvl1pPr marL="12700"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1952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575"/>
              </a:spcBef>
            </a:pPr>
            <a:r>
              <a:rPr lang="ru-RU" sz="26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🌐 </a:t>
            </a:r>
            <a:r>
              <a:rPr lang="ru-RU" sz="2300">
                <a:latin typeface="Arial" panose="020B0604020202020204" pitchFamily="34" charset="0"/>
              </a:rPr>
              <a:t>Global Collaboration to Achieve All SDGs</a:t>
            </a:r>
          </a:p>
          <a:p>
            <a:pPr>
              <a:spcBef>
                <a:spcPts val="400"/>
              </a:spcBef>
              <a:buFont typeface="Calibri" panose="020F0502020204030204" pitchFamily="34" charset="0"/>
              <a:buChar char="•"/>
            </a:pPr>
            <a:r>
              <a:rPr lang="ru-RU" sz="2300">
                <a:latin typeface="Arial" panose="020B0604020202020204" pitchFamily="34" charset="0"/>
              </a:rPr>
              <a:t>Governments: Policy frameworks &amp; international agreements</a:t>
            </a:r>
          </a:p>
          <a:p>
            <a:pPr>
              <a:spcBef>
                <a:spcPts val="463"/>
              </a:spcBef>
              <a:buFont typeface="Calibri" panose="020F0502020204030204" pitchFamily="34" charset="0"/>
              <a:buChar char="•"/>
            </a:pPr>
            <a:r>
              <a:rPr lang="ru-RU" sz="2300">
                <a:latin typeface="Arial" panose="020B0604020202020204" pitchFamily="34" charset="0"/>
              </a:rPr>
              <a:t>Industries: Investment, innovation &amp; responsible business</a:t>
            </a:r>
          </a:p>
          <a:p>
            <a:pPr>
              <a:lnSpc>
                <a:spcPct val="116000"/>
              </a:lnSpc>
              <a:buFont typeface="Calibri" panose="020F0502020204030204" pitchFamily="34" charset="0"/>
              <a:buChar char="•"/>
            </a:pPr>
            <a:r>
              <a:rPr lang="ru-RU" sz="2300">
                <a:latin typeface="Arial" panose="020B0604020202020204" pitchFamily="34" charset="0"/>
              </a:rPr>
              <a:t>Educational Institutions: Research, awareness &amp; skill development</a:t>
            </a:r>
          </a:p>
          <a:p>
            <a:pPr>
              <a:spcBef>
                <a:spcPts val="463"/>
              </a:spcBef>
              <a:buFont typeface="Calibri" panose="020F0502020204030204" pitchFamily="34" charset="0"/>
              <a:buChar char="•"/>
            </a:pPr>
            <a:r>
              <a:rPr lang="ru-RU" sz="2300">
                <a:latin typeface="Arial" panose="020B0604020202020204" pitchFamily="34" charset="0"/>
              </a:rPr>
              <a:t>Citizens: Grassroots action &amp; community engagement</a:t>
            </a:r>
          </a:p>
          <a:p>
            <a:pPr>
              <a:spcBef>
                <a:spcPts val="163"/>
              </a:spcBef>
            </a:pPr>
            <a:r>
              <a:rPr lang="ru-RU" sz="26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💡 </a:t>
            </a:r>
            <a:r>
              <a:rPr lang="ru-RU" sz="2300">
                <a:latin typeface="Arial" panose="020B0604020202020204" pitchFamily="34" charset="0"/>
              </a:rPr>
              <a:t>Technology &amp; AI as Key Enablers</a:t>
            </a:r>
          </a:p>
          <a:p>
            <a:pPr>
              <a:spcBef>
                <a:spcPts val="400"/>
              </a:spcBef>
              <a:buFont typeface="Calibri" panose="020F0502020204030204" pitchFamily="34" charset="0"/>
              <a:buChar char="•"/>
            </a:pPr>
            <a:r>
              <a:rPr lang="ru-RU" sz="2300">
                <a:latin typeface="Arial" panose="020B0604020202020204" pitchFamily="34" charset="0"/>
              </a:rPr>
              <a:t>AI accelerates data-driven decision-making for SDG progress</a:t>
            </a:r>
          </a:p>
          <a:p>
            <a:pPr>
              <a:spcBef>
                <a:spcPts val="463"/>
              </a:spcBef>
              <a:buFont typeface="Calibri" panose="020F0502020204030204" pitchFamily="34" charset="0"/>
              <a:buChar char="•"/>
            </a:pPr>
            <a:r>
              <a:rPr lang="ru-RU" sz="2300">
                <a:latin typeface="Arial" panose="020B0604020202020204" pitchFamily="34" charset="0"/>
              </a:rPr>
              <a:t>Digital platforms connect global partners seamlessly</a:t>
            </a:r>
          </a:p>
          <a:p>
            <a:pPr>
              <a:spcBef>
                <a:spcPts val="463"/>
              </a:spcBef>
              <a:buFont typeface="Calibri" panose="020F0502020204030204" pitchFamily="34" charset="0"/>
              <a:buChar char="•"/>
            </a:pPr>
            <a:r>
              <a:rPr lang="ru-RU" sz="2300">
                <a:latin typeface="Arial" panose="020B0604020202020204" pitchFamily="34" charset="0"/>
              </a:rPr>
              <a:t>Open data sharing strengthens cross-border collaboration</a:t>
            </a:r>
          </a:p>
          <a:p>
            <a:pPr>
              <a:lnSpc>
                <a:spcPct val="116000"/>
              </a:lnSpc>
            </a:pPr>
            <a:r>
              <a:rPr lang="ru-RU" sz="22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🤝 </a:t>
            </a:r>
            <a:r>
              <a:rPr lang="ru-RU" sz="2300">
                <a:latin typeface="Arial" panose="020B0604020202020204" pitchFamily="34" charset="0"/>
              </a:rPr>
              <a:t>No single nation or sector can achieve the SDGs alone — partnerships are the foundation of sustainable development.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350125" y="3138488"/>
            <a:ext cx="9043988" cy="571500"/>
          </a:xfrm>
          <a:ln cap="flat" algn="ctr">
            <a:round/>
            <a:headEnd type="none" w="med" len="med"/>
            <a:tailEnd type="none" w="med" len="med"/>
          </a:ln>
        </p:spPr>
        <p:txBody>
          <a:bodyPr tIns="17145"/>
          <a:lstStyle/>
          <a:p>
            <a:pPr marL="12700">
              <a:spcBef>
                <a:spcPts val="125"/>
              </a:spcBef>
            </a:pPr>
            <a:r>
              <a:rPr lang="ru-RU" sz="3500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SDG 17 – PARTNERSHIPS FOR THE GOALS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0063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84300" y="2678113"/>
            <a:ext cx="15032038" cy="2455862"/>
          </a:xfrm>
          <a:ln cap="flat" algn="ctr">
            <a:round/>
            <a:headEnd type="none" w="med" len="med"/>
            <a:tailEnd type="none" w="med" len="med"/>
          </a:ln>
        </p:spPr>
        <p:txBody>
          <a:bodyPr tIns="717593"/>
          <a:lstStyle/>
          <a:p>
            <a:pPr marL="4171950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KEY LEARNINGS</a:t>
            </a:r>
          </a:p>
        </p:txBody>
      </p:sp>
      <p:sp>
        <p:nvSpPr>
          <p:cNvPr id="9220" name="object 4"/>
          <p:cNvSpPr>
            <a:spLocks/>
          </p:cNvSpPr>
          <p:nvPr/>
        </p:nvSpPr>
        <p:spPr bwMode="auto">
          <a:xfrm>
            <a:off x="2778125" y="5360988"/>
            <a:ext cx="3876675" cy="2914650"/>
          </a:xfrm>
          <a:custGeom>
            <a:avLst/>
            <a:gdLst>
              <a:gd name="T0" fmla="*/ 339876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2 w 3876040"/>
              <a:gd name="T7" fmla="*/ 2866723 h 2914650"/>
              <a:gd name="T8" fmla="*/ 140829 w 3876040"/>
              <a:gd name="T9" fmla="*/ 2840724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4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59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29 w 3876040"/>
              <a:gd name="T39" fmla="*/ 75413 h 2914650"/>
              <a:gd name="T40" fmla="*/ 179322 w 3876040"/>
              <a:gd name="T41" fmla="*/ 49414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4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1 w 3876040"/>
              <a:gd name="T63" fmla="*/ 106008 h 2914650"/>
              <a:gd name="T64" fmla="*/ 3800156 w 3876040"/>
              <a:gd name="T65" fmla="*/ 140767 h 2914650"/>
              <a:gd name="T66" fmla="*/ 3826155 w 3876040"/>
              <a:gd name="T67" fmla="*/ 179259 h 2914650"/>
              <a:gd name="T68" fmla="*/ 3847127 w 3876040"/>
              <a:gd name="T69" fmla="*/ 221054 h 2914650"/>
              <a:gd name="T70" fmla="*/ 3862641 w 3876040"/>
              <a:gd name="T71" fmla="*/ 265718 h 2914650"/>
              <a:gd name="T72" fmla="*/ 3872266 w 3876040"/>
              <a:gd name="T73" fmla="*/ 312823 h 2914650"/>
              <a:gd name="T74" fmla="*/ 3875570 w 3876040"/>
              <a:gd name="T75" fmla="*/ 361935 h 2914650"/>
              <a:gd name="T76" fmla="*/ 3875570 w 3876040"/>
              <a:gd name="T77" fmla="*/ 2554201 h 2914650"/>
              <a:gd name="T78" fmla="*/ 3872266 w 3876040"/>
              <a:gd name="T79" fmla="*/ 2603314 h 2914650"/>
              <a:gd name="T80" fmla="*/ 3862641 w 3876040"/>
              <a:gd name="T81" fmla="*/ 2650418 h 2914650"/>
              <a:gd name="T82" fmla="*/ 3847127 w 3876040"/>
              <a:gd name="T83" fmla="*/ 2695083 h 2914650"/>
              <a:gd name="T84" fmla="*/ 3826155 w 3876040"/>
              <a:gd name="T85" fmla="*/ 2736878 h 2914650"/>
              <a:gd name="T86" fmla="*/ 3800156 w 3876040"/>
              <a:gd name="T87" fmla="*/ 2775370 h 2914650"/>
              <a:gd name="T88" fmla="*/ 3769561 w 3876040"/>
              <a:gd name="T89" fmla="*/ 2810129 h 2914650"/>
              <a:gd name="T90" fmla="*/ 3734802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7 w 3876040"/>
              <a:gd name="T99" fmla="*/ 2912834 h 2914650"/>
              <a:gd name="T100" fmla="*/ 3535756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6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2" y="2866723"/>
                </a:lnTo>
                <a:lnTo>
                  <a:pt x="140829" y="2840724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4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59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29" y="75413"/>
                </a:lnTo>
                <a:lnTo>
                  <a:pt x="179322" y="49414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4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1" y="106008"/>
                </a:lnTo>
                <a:lnTo>
                  <a:pt x="3800156" y="140767"/>
                </a:lnTo>
                <a:lnTo>
                  <a:pt x="3826155" y="179259"/>
                </a:lnTo>
                <a:lnTo>
                  <a:pt x="3847127" y="221054"/>
                </a:lnTo>
                <a:lnTo>
                  <a:pt x="3862641" y="265718"/>
                </a:lnTo>
                <a:lnTo>
                  <a:pt x="3872266" y="312823"/>
                </a:lnTo>
                <a:lnTo>
                  <a:pt x="3875570" y="361935"/>
                </a:lnTo>
                <a:lnTo>
                  <a:pt x="3875570" y="2554201"/>
                </a:lnTo>
                <a:lnTo>
                  <a:pt x="3872266" y="2603314"/>
                </a:lnTo>
                <a:lnTo>
                  <a:pt x="3862641" y="2650418"/>
                </a:lnTo>
                <a:lnTo>
                  <a:pt x="3847127" y="2695083"/>
                </a:lnTo>
                <a:lnTo>
                  <a:pt x="3826155" y="2736878"/>
                </a:lnTo>
                <a:lnTo>
                  <a:pt x="3800156" y="2775370"/>
                </a:lnTo>
                <a:lnTo>
                  <a:pt x="3769561" y="2810129"/>
                </a:lnTo>
                <a:lnTo>
                  <a:pt x="3734802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7" y="2912834"/>
                </a:lnTo>
                <a:lnTo>
                  <a:pt x="3535756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5" name="object 5"/>
          <p:cNvSpPr txBox="1"/>
          <p:nvPr/>
        </p:nvSpPr>
        <p:spPr>
          <a:xfrm>
            <a:off x="3473450" y="6332538"/>
            <a:ext cx="2486025" cy="18923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1430" rIns="0" bIns="0">
            <a:spAutoFit/>
          </a:bodyPr>
          <a:lstStyle/>
          <a:p>
            <a:pPr marL="12700" marR="5080" algn="ctr" eaLnBrk="0" fontAlgn="auto" hangingPunct="0">
              <a:lnSpc>
                <a:spcPct val="116700"/>
              </a:lnSpc>
              <a:spcBef>
                <a:spcPts val="90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Documentary: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High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electricity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usage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cooling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demands.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Ecological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</a:t>
            </a:r>
            <a:r>
              <a:rPr sz="1500" spc="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Calculator: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Measuring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personal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environmental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impact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resource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consumption.</a:t>
            </a:r>
            <a:endParaRPr sz="1500">
              <a:latin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8013" y="5310188"/>
            <a:ext cx="593725" cy="6381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marL="12700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01</a:t>
            </a:r>
            <a:endParaRPr sz="4000">
              <a:latin typeface="Arial"/>
            </a:endParaRPr>
          </a:p>
        </p:txBody>
      </p:sp>
      <p:sp>
        <p:nvSpPr>
          <p:cNvPr id="9223" name="object 7"/>
          <p:cNvSpPr>
            <a:spLocks/>
          </p:cNvSpPr>
          <p:nvPr/>
        </p:nvSpPr>
        <p:spPr bwMode="auto">
          <a:xfrm>
            <a:off x="7197725" y="5360988"/>
            <a:ext cx="3876675" cy="2914650"/>
          </a:xfrm>
          <a:custGeom>
            <a:avLst/>
            <a:gdLst>
              <a:gd name="T0" fmla="*/ 339876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1 w 3876040"/>
              <a:gd name="T7" fmla="*/ 2866723 h 2914650"/>
              <a:gd name="T8" fmla="*/ 140829 w 3876040"/>
              <a:gd name="T9" fmla="*/ 2840724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5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60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29 w 3876040"/>
              <a:gd name="T39" fmla="*/ 75413 h 2914650"/>
              <a:gd name="T40" fmla="*/ 179322 w 3876040"/>
              <a:gd name="T41" fmla="*/ 49414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3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2 w 3876040"/>
              <a:gd name="T63" fmla="*/ 106008 h 2914650"/>
              <a:gd name="T64" fmla="*/ 3800157 w 3876040"/>
              <a:gd name="T65" fmla="*/ 140767 h 2914650"/>
              <a:gd name="T66" fmla="*/ 3826156 w 3876040"/>
              <a:gd name="T67" fmla="*/ 179259 h 2914650"/>
              <a:gd name="T68" fmla="*/ 3847128 w 3876040"/>
              <a:gd name="T69" fmla="*/ 221053 h 2914650"/>
              <a:gd name="T70" fmla="*/ 3862642 w 3876040"/>
              <a:gd name="T71" fmla="*/ 265718 h 2914650"/>
              <a:gd name="T72" fmla="*/ 3872267 w 3876040"/>
              <a:gd name="T73" fmla="*/ 312823 h 2914650"/>
              <a:gd name="T74" fmla="*/ 3875571 w 3876040"/>
              <a:gd name="T75" fmla="*/ 361935 h 2914650"/>
              <a:gd name="T76" fmla="*/ 3875571 w 3876040"/>
              <a:gd name="T77" fmla="*/ 2554201 h 2914650"/>
              <a:gd name="T78" fmla="*/ 3872267 w 3876040"/>
              <a:gd name="T79" fmla="*/ 2603314 h 2914650"/>
              <a:gd name="T80" fmla="*/ 3862642 w 3876040"/>
              <a:gd name="T81" fmla="*/ 2650419 h 2914650"/>
              <a:gd name="T82" fmla="*/ 3847128 w 3876040"/>
              <a:gd name="T83" fmla="*/ 2695084 h 2914650"/>
              <a:gd name="T84" fmla="*/ 3826156 w 3876040"/>
              <a:gd name="T85" fmla="*/ 2736878 h 2914650"/>
              <a:gd name="T86" fmla="*/ 3800157 w 3876040"/>
              <a:gd name="T87" fmla="*/ 2775370 h 2914650"/>
              <a:gd name="T88" fmla="*/ 3769562 w 3876040"/>
              <a:gd name="T89" fmla="*/ 2810129 h 2914650"/>
              <a:gd name="T90" fmla="*/ 3734803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6 w 3876040"/>
              <a:gd name="T99" fmla="*/ 2912834 h 2914650"/>
              <a:gd name="T100" fmla="*/ 3535757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6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1" y="2866723"/>
                </a:lnTo>
                <a:lnTo>
                  <a:pt x="140829" y="2840724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5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60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29" y="75413"/>
                </a:lnTo>
                <a:lnTo>
                  <a:pt x="179322" y="49414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3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2" y="106008"/>
                </a:lnTo>
                <a:lnTo>
                  <a:pt x="3800157" y="140767"/>
                </a:lnTo>
                <a:lnTo>
                  <a:pt x="3826156" y="179259"/>
                </a:lnTo>
                <a:lnTo>
                  <a:pt x="3847128" y="221053"/>
                </a:lnTo>
                <a:lnTo>
                  <a:pt x="3862642" y="265718"/>
                </a:lnTo>
                <a:lnTo>
                  <a:pt x="3872267" y="312823"/>
                </a:lnTo>
                <a:lnTo>
                  <a:pt x="3875571" y="361935"/>
                </a:lnTo>
                <a:lnTo>
                  <a:pt x="3875571" y="2554201"/>
                </a:lnTo>
                <a:lnTo>
                  <a:pt x="3872267" y="2603314"/>
                </a:lnTo>
                <a:lnTo>
                  <a:pt x="3862642" y="2650419"/>
                </a:lnTo>
                <a:lnTo>
                  <a:pt x="3847128" y="2695084"/>
                </a:lnTo>
                <a:lnTo>
                  <a:pt x="3826156" y="2736878"/>
                </a:lnTo>
                <a:lnTo>
                  <a:pt x="3800157" y="2775370"/>
                </a:lnTo>
                <a:lnTo>
                  <a:pt x="3769562" y="2810129"/>
                </a:lnTo>
                <a:lnTo>
                  <a:pt x="3734803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6" y="2912834"/>
                </a:lnTo>
                <a:lnTo>
                  <a:pt x="3535757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7829550" y="6332538"/>
            <a:ext cx="2614613" cy="1625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1430" rIns="0" bIns="0">
            <a:spAutoFit/>
          </a:bodyPr>
          <a:lstStyle/>
          <a:p>
            <a:pPr marL="12700" marR="5080" algn="ctr" eaLnBrk="0" fontAlgn="auto" hangingPunct="0">
              <a:lnSpc>
                <a:spcPct val="116700"/>
              </a:lnSpc>
              <a:spcBef>
                <a:spcPts val="90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</a:t>
            </a:r>
            <a:r>
              <a:rPr sz="1500" spc="1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Calculator: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Tracking</a:t>
            </a:r>
            <a:r>
              <a:rPr sz="1500" spc="1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reducing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personal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footprints.</a:t>
            </a:r>
            <a:r>
              <a:rPr sz="1500" spc="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MIT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En-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ROADS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Simulator: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Visualizing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policy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impacts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on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global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climate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change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scenarios.</a:t>
            </a:r>
            <a:endParaRPr sz="1500">
              <a:latin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39200" y="5310188"/>
            <a:ext cx="593725" cy="6381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marL="12700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02</a:t>
            </a:r>
            <a:endParaRPr sz="4000">
              <a:latin typeface="Arial"/>
            </a:endParaRPr>
          </a:p>
        </p:txBody>
      </p:sp>
      <p:sp>
        <p:nvSpPr>
          <p:cNvPr id="9226" name="object 10"/>
          <p:cNvSpPr>
            <a:spLocks/>
          </p:cNvSpPr>
          <p:nvPr/>
        </p:nvSpPr>
        <p:spPr bwMode="auto">
          <a:xfrm>
            <a:off x="11630025" y="5360988"/>
            <a:ext cx="3876675" cy="2914650"/>
          </a:xfrm>
          <a:custGeom>
            <a:avLst/>
            <a:gdLst>
              <a:gd name="T0" fmla="*/ 339876 w 3876040"/>
              <a:gd name="T1" fmla="*/ 2914649 h 2914650"/>
              <a:gd name="T2" fmla="*/ 265780 w 3876040"/>
              <a:gd name="T3" fmla="*/ 2903209 h 2914650"/>
              <a:gd name="T4" fmla="*/ 221116 w 3876040"/>
              <a:gd name="T5" fmla="*/ 2887695 h 2914650"/>
              <a:gd name="T6" fmla="*/ 179321 w 3876040"/>
              <a:gd name="T7" fmla="*/ 2866723 h 2914650"/>
              <a:gd name="T8" fmla="*/ 140829 w 3876040"/>
              <a:gd name="T9" fmla="*/ 2840723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5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60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29 w 3876040"/>
              <a:gd name="T39" fmla="*/ 75414 h 2914650"/>
              <a:gd name="T40" fmla="*/ 179322 w 3876040"/>
              <a:gd name="T41" fmla="*/ 49414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3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1 w 3876040"/>
              <a:gd name="T63" fmla="*/ 106008 h 2914650"/>
              <a:gd name="T64" fmla="*/ 3800156 w 3876040"/>
              <a:gd name="T65" fmla="*/ 140767 h 2914650"/>
              <a:gd name="T66" fmla="*/ 3826155 w 3876040"/>
              <a:gd name="T67" fmla="*/ 179259 h 2914650"/>
              <a:gd name="T68" fmla="*/ 3847127 w 3876040"/>
              <a:gd name="T69" fmla="*/ 221054 h 2914650"/>
              <a:gd name="T70" fmla="*/ 3862641 w 3876040"/>
              <a:gd name="T71" fmla="*/ 265718 h 2914650"/>
              <a:gd name="T72" fmla="*/ 3872266 w 3876040"/>
              <a:gd name="T73" fmla="*/ 312823 h 2914650"/>
              <a:gd name="T74" fmla="*/ 3875570 w 3876040"/>
              <a:gd name="T75" fmla="*/ 361935 h 2914650"/>
              <a:gd name="T76" fmla="*/ 3875570 w 3876040"/>
              <a:gd name="T77" fmla="*/ 2554201 h 2914650"/>
              <a:gd name="T78" fmla="*/ 3872266 w 3876040"/>
              <a:gd name="T79" fmla="*/ 2603314 h 2914650"/>
              <a:gd name="T80" fmla="*/ 3862641 w 3876040"/>
              <a:gd name="T81" fmla="*/ 2650418 h 2914650"/>
              <a:gd name="T82" fmla="*/ 3847127 w 3876040"/>
              <a:gd name="T83" fmla="*/ 2695083 h 2914650"/>
              <a:gd name="T84" fmla="*/ 3826155 w 3876040"/>
              <a:gd name="T85" fmla="*/ 2736878 h 2914650"/>
              <a:gd name="T86" fmla="*/ 3800156 w 3876040"/>
              <a:gd name="T87" fmla="*/ 2775370 h 2914650"/>
              <a:gd name="T88" fmla="*/ 3769561 w 3876040"/>
              <a:gd name="T89" fmla="*/ 2810129 h 2914650"/>
              <a:gd name="T90" fmla="*/ 3734802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6 w 3876040"/>
              <a:gd name="T99" fmla="*/ 2912834 h 2914650"/>
              <a:gd name="T100" fmla="*/ 3535757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6" y="2914649"/>
                </a:moveTo>
                <a:lnTo>
                  <a:pt x="265780" y="2903209"/>
                </a:lnTo>
                <a:lnTo>
                  <a:pt x="221116" y="2887695"/>
                </a:lnTo>
                <a:lnTo>
                  <a:pt x="179321" y="2866723"/>
                </a:lnTo>
                <a:lnTo>
                  <a:pt x="140829" y="2840723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5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60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29" y="75414"/>
                </a:lnTo>
                <a:lnTo>
                  <a:pt x="179322" y="49414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3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1" y="106008"/>
                </a:lnTo>
                <a:lnTo>
                  <a:pt x="3800156" y="140767"/>
                </a:lnTo>
                <a:lnTo>
                  <a:pt x="3826155" y="179259"/>
                </a:lnTo>
                <a:lnTo>
                  <a:pt x="3847127" y="221054"/>
                </a:lnTo>
                <a:lnTo>
                  <a:pt x="3862641" y="265718"/>
                </a:lnTo>
                <a:lnTo>
                  <a:pt x="3872266" y="312823"/>
                </a:lnTo>
                <a:lnTo>
                  <a:pt x="3875570" y="361935"/>
                </a:lnTo>
                <a:lnTo>
                  <a:pt x="3875570" y="2554201"/>
                </a:lnTo>
                <a:lnTo>
                  <a:pt x="3872266" y="2603314"/>
                </a:lnTo>
                <a:lnTo>
                  <a:pt x="3862641" y="2650418"/>
                </a:lnTo>
                <a:lnTo>
                  <a:pt x="3847127" y="2695083"/>
                </a:lnTo>
                <a:lnTo>
                  <a:pt x="3826155" y="2736878"/>
                </a:lnTo>
                <a:lnTo>
                  <a:pt x="3800156" y="2775370"/>
                </a:lnTo>
                <a:lnTo>
                  <a:pt x="3769561" y="2810129"/>
                </a:lnTo>
                <a:lnTo>
                  <a:pt x="3734802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6" y="2912834"/>
                </a:lnTo>
                <a:lnTo>
                  <a:pt x="3535757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11" name="object 11"/>
          <p:cNvSpPr txBox="1"/>
          <p:nvPr/>
        </p:nvSpPr>
        <p:spPr>
          <a:xfrm>
            <a:off x="12330113" y="6332538"/>
            <a:ext cx="2452687" cy="18923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1430" rIns="0" bIns="0">
            <a:spAutoFit/>
          </a:bodyPr>
          <a:lstStyle/>
          <a:p>
            <a:pPr marL="12700" marR="5080" indent="-635" algn="ctr" eaLnBrk="0" fontAlgn="auto" hangingPunct="0">
              <a:lnSpc>
                <a:spcPct val="116700"/>
              </a:lnSpc>
              <a:spcBef>
                <a:spcPts val="90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NANDO</a:t>
            </a:r>
            <a:r>
              <a:rPr sz="1500" spc="-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z="1500" spc="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Smart</a:t>
            </a:r>
            <a:r>
              <a:rPr sz="1500" spc="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Bins:</a:t>
            </a:r>
            <a:r>
              <a:rPr sz="1500" spc="-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optimizing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waste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sorting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management.</a:t>
            </a:r>
            <a:r>
              <a:rPr sz="1500" spc="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SCGJ</a:t>
            </a:r>
            <a:r>
              <a:rPr sz="1500" spc="6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Jobs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Portal: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skills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are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vital</a:t>
            </a:r>
            <a:r>
              <a:rPr sz="1500" spc="1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z="1500" spc="1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sustainable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employment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future careers.</a:t>
            </a:r>
            <a:endParaRPr sz="1500">
              <a:latin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71500" y="5310188"/>
            <a:ext cx="593725" cy="6381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marL="12700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03</a:t>
            </a:r>
            <a:endParaRPr sz="4000">
              <a:latin typeface="Arial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4300" y="3267075"/>
            <a:ext cx="9134475" cy="693738"/>
          </a:xfrm>
          <a:ln cap="flat" algn="ctr">
            <a:round/>
            <a:headEnd type="none" w="med" len="med"/>
            <a:tailEnd type="none" w="med" len="med"/>
          </a:ln>
        </p:spPr>
        <p:txBody>
          <a:bodyPr tIns="16510"/>
          <a:lstStyle/>
          <a:p>
            <a:pPr marL="12700">
              <a:spcBef>
                <a:spcPts val="125"/>
              </a:spcBef>
            </a:pPr>
            <a:r>
              <a:rPr lang="ru-RU" sz="4300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DATA CENTRES &amp; SUSTAINABILITY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4300" y="4492625"/>
            <a:ext cx="7732713" cy="44259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62230" rIns="0" bIns="0">
            <a:spAutoFit/>
          </a:bodyPr>
          <a:lstStyle/>
          <a:p>
            <a:pPr marL="194945" indent="-182245" eaLnBrk="0" fontAlgn="auto" hangingPunct="0">
              <a:spcBef>
                <a:spcPts val="490"/>
              </a:spcBef>
              <a:buSzTx/>
              <a:buFontTx/>
              <a:buChar char="•"/>
              <a:tabLst>
                <a:tab pos="194945" algn="l"/>
              </a:tabLst>
            </a:pP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Massive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electricity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consumers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—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global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centres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use</a:t>
            </a:r>
            <a:endParaRPr sz="2300">
              <a:latin typeface="Arial"/>
            </a:endParaRPr>
          </a:p>
          <a:p>
            <a:pPr marL="12700" eaLnBrk="0" fontAlgn="auto" hangingPunct="0">
              <a:spcBef>
                <a:spcPts val="390"/>
              </a:spcBef>
              <a:buSzTx/>
              <a:buFontTx/>
              <a:buNone/>
            </a:pP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~200</a:t>
            </a:r>
            <a:r>
              <a:rPr sz="2300" spc="-6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TWh/year</a:t>
            </a:r>
            <a:endParaRPr sz="2300">
              <a:latin typeface="Arial"/>
            </a:endParaRPr>
          </a:p>
          <a:p>
            <a:pPr marL="194945" indent="-18224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94945" algn="l"/>
              </a:tabLst>
            </a:pP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Cooling</a:t>
            </a:r>
            <a:r>
              <a:rPr sz="2300" spc="-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systems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account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z="2300" spc="-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up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</a:t>
            </a:r>
            <a:r>
              <a:rPr sz="2300" spc="-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40%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total</a:t>
            </a:r>
            <a:r>
              <a:rPr sz="2300" spc="-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energy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use</a:t>
            </a:r>
            <a:endParaRPr sz="2300">
              <a:latin typeface="Arial"/>
            </a:endParaRPr>
          </a:p>
          <a:p>
            <a:pPr marL="12700" marR="1752600" indent="166370" eaLnBrk="0" fontAlgn="auto" hangingPunct="0">
              <a:lnSpc>
                <a:spcPct val="114100"/>
              </a:lnSpc>
              <a:buSzTx/>
              <a:buFontTx/>
              <a:buChar char="•"/>
              <a:tabLst>
                <a:tab pos="179070" algn="l"/>
              </a:tabLst>
            </a:pP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z="2300" spc="-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workloads</a:t>
            </a:r>
            <a:r>
              <a:rPr sz="2300" spc="-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significantly</a:t>
            </a:r>
            <a:r>
              <a:rPr sz="2300" spc="-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amplify</a:t>
            </a:r>
            <a:r>
              <a:rPr sz="2300" spc="-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energy</a:t>
            </a:r>
            <a:r>
              <a:rPr sz="2300" spc="-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infrastructure</a:t>
            </a:r>
            <a:r>
              <a:rPr sz="2300" spc="-1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demands</a:t>
            </a:r>
            <a:endParaRPr sz="2300">
              <a:latin typeface="Arial"/>
            </a:endParaRPr>
          </a:p>
          <a:p>
            <a:pPr marL="12700" marR="378460" indent="182245" eaLnBrk="0" fontAlgn="auto" hangingPunct="0">
              <a:lnSpc>
                <a:spcPct val="114100"/>
              </a:lnSpc>
              <a:buSzTx/>
              <a:buFontTx/>
              <a:buChar char="•"/>
              <a:tabLst>
                <a:tab pos="194945" algn="l"/>
              </a:tabLst>
            </a:pP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Cloud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Computing: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optimizing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servers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minimal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</a:t>
            </a:r>
            <a:r>
              <a:rPr sz="2300" spc="-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output</a:t>
            </a:r>
            <a:endParaRPr sz="2300">
              <a:latin typeface="Arial"/>
            </a:endParaRPr>
          </a:p>
          <a:p>
            <a:pPr marL="12700" marR="329565" indent="182245" eaLnBrk="0" fontAlgn="auto" hangingPunct="0">
              <a:lnSpc>
                <a:spcPct val="114100"/>
              </a:lnSpc>
              <a:buSzTx/>
              <a:buFontTx/>
              <a:buChar char="•"/>
              <a:tabLst>
                <a:tab pos="194945" algn="l"/>
              </a:tabLst>
            </a:pP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Leading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firms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(Google,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Microsoft)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powering</a:t>
            </a:r>
            <a:r>
              <a:rPr sz="23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centres</a:t>
            </a:r>
            <a:r>
              <a:rPr sz="2300" spc="-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with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100%</a:t>
            </a:r>
            <a:r>
              <a:rPr sz="2300" spc="-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renewables</a:t>
            </a:r>
            <a:endParaRPr sz="2300">
              <a:latin typeface="Arial"/>
            </a:endParaRPr>
          </a:p>
          <a:p>
            <a:pPr marL="12700" marR="150495" indent="182245" eaLnBrk="0" fontAlgn="auto" hangingPunct="0">
              <a:lnSpc>
                <a:spcPct val="114100"/>
              </a:lnSpc>
              <a:spcBef>
                <a:spcPts val="5"/>
              </a:spcBef>
              <a:buSzTx/>
              <a:buFontTx/>
              <a:buChar char="•"/>
              <a:tabLst>
                <a:tab pos="194945" algn="l"/>
              </a:tabLst>
            </a:pPr>
            <a:r>
              <a:rPr sz="23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Carbon-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neutral</a:t>
            </a:r>
            <a:r>
              <a:rPr sz="2300" spc="-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centres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are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key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sustainable</a:t>
            </a:r>
            <a:r>
              <a:rPr sz="2300"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23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digital growth</a:t>
            </a:r>
            <a:endParaRPr sz="2300">
              <a:latin typeface="Arial"/>
            </a:endParaRPr>
          </a:p>
        </p:txBody>
      </p:sp>
      <p:grpSp>
        <p:nvGrpSpPr>
          <p:cNvPr id="10244" name="object 4"/>
          <p:cNvGrpSpPr>
            <a:grpSpLocks/>
          </p:cNvGrpSpPr>
          <p:nvPr/>
        </p:nvGrpSpPr>
        <p:grpSpPr bwMode="auto">
          <a:xfrm>
            <a:off x="12611100" y="0"/>
            <a:ext cx="5676900" cy="10287000"/>
            <a:chOff x="12611674" y="0"/>
            <a:chExt cx="5676900" cy="10287000"/>
          </a:xfrm>
        </p:grpSpPr>
        <p:sp>
          <p:nvSpPr>
            <p:cNvPr id="10245" name="object 5"/>
            <p:cNvSpPr>
              <a:spLocks/>
            </p:cNvSpPr>
            <p:nvPr/>
          </p:nvSpPr>
          <p:spPr bwMode="auto">
            <a:xfrm>
              <a:off x="14635925" y="0"/>
              <a:ext cx="3652520" cy="10287000"/>
            </a:xfrm>
            <a:custGeom>
              <a:avLst/>
              <a:gdLst>
                <a:gd name="T0" fmla="*/ 3652075 w 3652519"/>
                <a:gd name="T1" fmla="*/ 10287000 h 10287000"/>
                <a:gd name="T2" fmla="*/ 0 w 3652519"/>
                <a:gd name="T3" fmla="*/ 10287000 h 10287000"/>
                <a:gd name="T4" fmla="*/ 0 w 3652519"/>
                <a:gd name="T5" fmla="*/ 0 h 10287000"/>
                <a:gd name="T6" fmla="*/ 3652075 w 3652519"/>
                <a:gd name="T7" fmla="*/ 0 h 10287000"/>
                <a:gd name="T8" fmla="*/ 3652075 w 3652519"/>
                <a:gd name="T9" fmla="*/ 10287000 h 10287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2519" h="10287000">
                  <a:moveTo>
                    <a:pt x="36520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3652075" y="0"/>
                  </a:lnTo>
                  <a:lnTo>
                    <a:pt x="3652075" y="10287000"/>
                  </a:lnTo>
                  <a:close/>
                </a:path>
              </a:pathLst>
            </a:custGeom>
            <a:solidFill>
              <a:srgbClr val="33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pic>
          <p:nvPicPr>
            <p:cNvPr id="10246" name="object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11674" y="1028700"/>
              <a:ext cx="4629149" cy="822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</p:pic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0063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84300" y="2678113"/>
            <a:ext cx="15032038" cy="2455862"/>
          </a:xfrm>
          <a:ln cap="flat" algn="ctr">
            <a:round/>
            <a:headEnd type="none" w="med" len="med"/>
            <a:tailEnd type="none" w="med" len="med"/>
          </a:ln>
        </p:spPr>
        <p:txBody>
          <a:bodyPr tIns="717593"/>
          <a:lstStyle/>
          <a:p>
            <a:pPr marL="2560638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AI FOR SUSTAINABILITY</a:t>
            </a:r>
          </a:p>
        </p:txBody>
      </p:sp>
      <p:sp>
        <p:nvSpPr>
          <p:cNvPr id="11268" name="object 4"/>
          <p:cNvSpPr>
            <a:spLocks/>
          </p:cNvSpPr>
          <p:nvPr/>
        </p:nvSpPr>
        <p:spPr bwMode="auto">
          <a:xfrm>
            <a:off x="2778125" y="5360988"/>
            <a:ext cx="3876675" cy="2914650"/>
          </a:xfrm>
          <a:custGeom>
            <a:avLst/>
            <a:gdLst>
              <a:gd name="T0" fmla="*/ 339876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2 w 3876040"/>
              <a:gd name="T7" fmla="*/ 2866723 h 2914650"/>
              <a:gd name="T8" fmla="*/ 140829 w 3876040"/>
              <a:gd name="T9" fmla="*/ 2840724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4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59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29 w 3876040"/>
              <a:gd name="T39" fmla="*/ 75413 h 2914650"/>
              <a:gd name="T40" fmla="*/ 179322 w 3876040"/>
              <a:gd name="T41" fmla="*/ 49414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4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1 w 3876040"/>
              <a:gd name="T63" fmla="*/ 106008 h 2914650"/>
              <a:gd name="T64" fmla="*/ 3800156 w 3876040"/>
              <a:gd name="T65" fmla="*/ 140767 h 2914650"/>
              <a:gd name="T66" fmla="*/ 3826155 w 3876040"/>
              <a:gd name="T67" fmla="*/ 179259 h 2914650"/>
              <a:gd name="T68" fmla="*/ 3847127 w 3876040"/>
              <a:gd name="T69" fmla="*/ 221054 h 2914650"/>
              <a:gd name="T70" fmla="*/ 3862641 w 3876040"/>
              <a:gd name="T71" fmla="*/ 265718 h 2914650"/>
              <a:gd name="T72" fmla="*/ 3872266 w 3876040"/>
              <a:gd name="T73" fmla="*/ 312823 h 2914650"/>
              <a:gd name="T74" fmla="*/ 3875570 w 3876040"/>
              <a:gd name="T75" fmla="*/ 361935 h 2914650"/>
              <a:gd name="T76" fmla="*/ 3875570 w 3876040"/>
              <a:gd name="T77" fmla="*/ 2554201 h 2914650"/>
              <a:gd name="T78" fmla="*/ 3872266 w 3876040"/>
              <a:gd name="T79" fmla="*/ 2603314 h 2914650"/>
              <a:gd name="T80" fmla="*/ 3862641 w 3876040"/>
              <a:gd name="T81" fmla="*/ 2650418 h 2914650"/>
              <a:gd name="T82" fmla="*/ 3847127 w 3876040"/>
              <a:gd name="T83" fmla="*/ 2695083 h 2914650"/>
              <a:gd name="T84" fmla="*/ 3826155 w 3876040"/>
              <a:gd name="T85" fmla="*/ 2736878 h 2914650"/>
              <a:gd name="T86" fmla="*/ 3800156 w 3876040"/>
              <a:gd name="T87" fmla="*/ 2775370 h 2914650"/>
              <a:gd name="T88" fmla="*/ 3769561 w 3876040"/>
              <a:gd name="T89" fmla="*/ 2810129 h 2914650"/>
              <a:gd name="T90" fmla="*/ 3734802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7 w 3876040"/>
              <a:gd name="T99" fmla="*/ 2912834 h 2914650"/>
              <a:gd name="T100" fmla="*/ 3535756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6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2" y="2866723"/>
                </a:lnTo>
                <a:lnTo>
                  <a:pt x="140829" y="2840724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4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59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29" y="75413"/>
                </a:lnTo>
                <a:lnTo>
                  <a:pt x="179322" y="49414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4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1" y="106008"/>
                </a:lnTo>
                <a:lnTo>
                  <a:pt x="3800156" y="140767"/>
                </a:lnTo>
                <a:lnTo>
                  <a:pt x="3826155" y="179259"/>
                </a:lnTo>
                <a:lnTo>
                  <a:pt x="3847127" y="221054"/>
                </a:lnTo>
                <a:lnTo>
                  <a:pt x="3862641" y="265718"/>
                </a:lnTo>
                <a:lnTo>
                  <a:pt x="3872266" y="312823"/>
                </a:lnTo>
                <a:lnTo>
                  <a:pt x="3875570" y="361935"/>
                </a:lnTo>
                <a:lnTo>
                  <a:pt x="3875570" y="2554201"/>
                </a:lnTo>
                <a:lnTo>
                  <a:pt x="3872266" y="2603314"/>
                </a:lnTo>
                <a:lnTo>
                  <a:pt x="3862641" y="2650418"/>
                </a:lnTo>
                <a:lnTo>
                  <a:pt x="3847127" y="2695083"/>
                </a:lnTo>
                <a:lnTo>
                  <a:pt x="3826155" y="2736878"/>
                </a:lnTo>
                <a:lnTo>
                  <a:pt x="3800156" y="2775370"/>
                </a:lnTo>
                <a:lnTo>
                  <a:pt x="3769561" y="2810129"/>
                </a:lnTo>
                <a:lnTo>
                  <a:pt x="3734802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7" y="2912834"/>
                </a:lnTo>
                <a:lnTo>
                  <a:pt x="3535756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5" name="object 5"/>
          <p:cNvSpPr txBox="1"/>
          <p:nvPr/>
        </p:nvSpPr>
        <p:spPr>
          <a:xfrm>
            <a:off x="3462338" y="5310188"/>
            <a:ext cx="2506662" cy="2914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algn="ctr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01</a:t>
            </a:r>
            <a:endParaRPr sz="4000">
              <a:latin typeface="Arial"/>
            </a:endParaRPr>
          </a:p>
          <a:p>
            <a:pPr marL="118745" marR="111125" algn="ctr" eaLnBrk="0" fontAlgn="auto" hangingPunct="0">
              <a:lnSpc>
                <a:spcPct val="116700"/>
              </a:lnSpc>
              <a:spcBef>
                <a:spcPts val="3225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Smart</a:t>
            </a:r>
            <a:r>
              <a:rPr sz="1500" spc="-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Agriculture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</a:t>
            </a:r>
            <a:r>
              <a:rPr sz="1500"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Waste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Management</a:t>
            </a:r>
            <a:endParaRPr sz="1500">
              <a:latin typeface="Arial"/>
            </a:endParaRPr>
          </a:p>
          <a:p>
            <a:pPr marL="12700" marR="5080" indent="-635" algn="ctr" eaLnBrk="0" fontAlgn="auto" hangingPunct="0">
              <a:lnSpc>
                <a:spcPct val="116700"/>
              </a:lnSpc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Precision farming with</a:t>
            </a:r>
            <a:r>
              <a:rPr sz="15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AI-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driven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resource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optimization.</a:t>
            </a:r>
            <a:endParaRPr sz="1500">
              <a:latin typeface="Arial"/>
            </a:endParaRPr>
          </a:p>
          <a:p>
            <a:pPr marL="158115" marR="150495" algn="ctr" eaLnBrk="0" fontAlgn="auto" hangingPunct="0">
              <a:lnSpc>
                <a:spcPct val="116700"/>
              </a:lnSpc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AI-powered</a:t>
            </a:r>
            <a:r>
              <a:rPr sz="1500"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waste</a:t>
            </a:r>
            <a:r>
              <a:rPr sz="1500" spc="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sorting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recycling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systems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efficient</a:t>
            </a:r>
            <a:r>
              <a:rPr sz="1500" spc="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management.</a:t>
            </a:r>
            <a:endParaRPr sz="1500">
              <a:latin typeface="Arial"/>
            </a:endParaRPr>
          </a:p>
        </p:txBody>
      </p:sp>
      <p:sp>
        <p:nvSpPr>
          <p:cNvPr id="11270" name="object 6"/>
          <p:cNvSpPr>
            <a:spLocks/>
          </p:cNvSpPr>
          <p:nvPr/>
        </p:nvSpPr>
        <p:spPr bwMode="auto">
          <a:xfrm>
            <a:off x="7197725" y="5360988"/>
            <a:ext cx="3876675" cy="2914650"/>
          </a:xfrm>
          <a:custGeom>
            <a:avLst/>
            <a:gdLst>
              <a:gd name="T0" fmla="*/ 339876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1 w 3876040"/>
              <a:gd name="T7" fmla="*/ 2866723 h 2914650"/>
              <a:gd name="T8" fmla="*/ 140829 w 3876040"/>
              <a:gd name="T9" fmla="*/ 2840724 h 2914650"/>
              <a:gd name="T10" fmla="*/ 106070 w 3876040"/>
              <a:gd name="T11" fmla="*/ 2810129 h 2914650"/>
              <a:gd name="T12" fmla="*/ 75476 w 3876040"/>
              <a:gd name="T13" fmla="*/ 2775370 h 2914650"/>
              <a:gd name="T14" fmla="*/ 49477 w 3876040"/>
              <a:gd name="T15" fmla="*/ 2736877 h 2914650"/>
              <a:gd name="T16" fmla="*/ 28505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60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29 w 3876040"/>
              <a:gd name="T39" fmla="*/ 75413 h 2914650"/>
              <a:gd name="T40" fmla="*/ 179322 w 3876040"/>
              <a:gd name="T41" fmla="*/ 49414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3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2 w 3876040"/>
              <a:gd name="T63" fmla="*/ 106008 h 2914650"/>
              <a:gd name="T64" fmla="*/ 3800157 w 3876040"/>
              <a:gd name="T65" fmla="*/ 140767 h 2914650"/>
              <a:gd name="T66" fmla="*/ 3826156 w 3876040"/>
              <a:gd name="T67" fmla="*/ 179259 h 2914650"/>
              <a:gd name="T68" fmla="*/ 3847128 w 3876040"/>
              <a:gd name="T69" fmla="*/ 221053 h 2914650"/>
              <a:gd name="T70" fmla="*/ 3862642 w 3876040"/>
              <a:gd name="T71" fmla="*/ 265718 h 2914650"/>
              <a:gd name="T72" fmla="*/ 3872267 w 3876040"/>
              <a:gd name="T73" fmla="*/ 312823 h 2914650"/>
              <a:gd name="T74" fmla="*/ 3875571 w 3876040"/>
              <a:gd name="T75" fmla="*/ 361935 h 2914650"/>
              <a:gd name="T76" fmla="*/ 3875571 w 3876040"/>
              <a:gd name="T77" fmla="*/ 2554201 h 2914650"/>
              <a:gd name="T78" fmla="*/ 3872267 w 3876040"/>
              <a:gd name="T79" fmla="*/ 2603314 h 2914650"/>
              <a:gd name="T80" fmla="*/ 3862642 w 3876040"/>
              <a:gd name="T81" fmla="*/ 2650419 h 2914650"/>
              <a:gd name="T82" fmla="*/ 3847128 w 3876040"/>
              <a:gd name="T83" fmla="*/ 2695084 h 2914650"/>
              <a:gd name="T84" fmla="*/ 3826156 w 3876040"/>
              <a:gd name="T85" fmla="*/ 2736878 h 2914650"/>
              <a:gd name="T86" fmla="*/ 3800157 w 3876040"/>
              <a:gd name="T87" fmla="*/ 2775370 h 2914650"/>
              <a:gd name="T88" fmla="*/ 3769562 w 3876040"/>
              <a:gd name="T89" fmla="*/ 2810129 h 2914650"/>
              <a:gd name="T90" fmla="*/ 3734803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6 w 3876040"/>
              <a:gd name="T99" fmla="*/ 2912834 h 2914650"/>
              <a:gd name="T100" fmla="*/ 3535757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6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1" y="2866723"/>
                </a:lnTo>
                <a:lnTo>
                  <a:pt x="140829" y="2840724"/>
                </a:lnTo>
                <a:lnTo>
                  <a:pt x="106070" y="2810129"/>
                </a:lnTo>
                <a:lnTo>
                  <a:pt x="75476" y="2775370"/>
                </a:lnTo>
                <a:lnTo>
                  <a:pt x="49477" y="2736877"/>
                </a:lnTo>
                <a:lnTo>
                  <a:pt x="28505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60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29" y="75413"/>
                </a:lnTo>
                <a:lnTo>
                  <a:pt x="179322" y="49414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3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2" y="106008"/>
                </a:lnTo>
                <a:lnTo>
                  <a:pt x="3800157" y="140767"/>
                </a:lnTo>
                <a:lnTo>
                  <a:pt x="3826156" y="179259"/>
                </a:lnTo>
                <a:lnTo>
                  <a:pt x="3847128" y="221053"/>
                </a:lnTo>
                <a:lnTo>
                  <a:pt x="3862642" y="265718"/>
                </a:lnTo>
                <a:lnTo>
                  <a:pt x="3872267" y="312823"/>
                </a:lnTo>
                <a:lnTo>
                  <a:pt x="3875571" y="361935"/>
                </a:lnTo>
                <a:lnTo>
                  <a:pt x="3875571" y="2554201"/>
                </a:lnTo>
                <a:lnTo>
                  <a:pt x="3872267" y="2603314"/>
                </a:lnTo>
                <a:lnTo>
                  <a:pt x="3862642" y="2650419"/>
                </a:lnTo>
                <a:lnTo>
                  <a:pt x="3847128" y="2695084"/>
                </a:lnTo>
                <a:lnTo>
                  <a:pt x="3826156" y="2736878"/>
                </a:lnTo>
                <a:lnTo>
                  <a:pt x="3800157" y="2775370"/>
                </a:lnTo>
                <a:lnTo>
                  <a:pt x="3769562" y="2810129"/>
                </a:lnTo>
                <a:lnTo>
                  <a:pt x="3734803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6" y="2912834"/>
                </a:lnTo>
                <a:lnTo>
                  <a:pt x="3535757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7942263" y="5310188"/>
            <a:ext cx="2387600" cy="2914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algn="ctr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02</a:t>
            </a:r>
            <a:endParaRPr sz="4000">
              <a:latin typeface="Arial"/>
            </a:endParaRPr>
          </a:p>
          <a:p>
            <a:pPr marL="200660" marR="193675" algn="ctr" eaLnBrk="0" fontAlgn="auto" hangingPunct="0">
              <a:lnSpc>
                <a:spcPct val="116700"/>
              </a:lnSpc>
              <a:spcBef>
                <a:spcPts val="3225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Energy</a:t>
            </a:r>
            <a:r>
              <a:rPr sz="1500" spc="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Management</a:t>
            </a:r>
            <a:r>
              <a:rPr sz="1500" spc="4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5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Pollution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Monitoring</a:t>
            </a:r>
            <a:endParaRPr sz="1500">
              <a:latin typeface="Arial"/>
            </a:endParaRPr>
          </a:p>
          <a:p>
            <a:pPr marL="12700" marR="5080" algn="ctr" eaLnBrk="0" fontAlgn="auto" hangingPunct="0">
              <a:lnSpc>
                <a:spcPct val="116700"/>
              </a:lnSpc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Smart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grid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optimization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demand forecasting.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Real-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time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pollution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monitoring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using</a:t>
            </a:r>
            <a:r>
              <a:rPr sz="1500" spc="-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sensors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analytics.</a:t>
            </a:r>
            <a:endParaRPr sz="1500">
              <a:latin typeface="Arial"/>
            </a:endParaRPr>
          </a:p>
        </p:txBody>
      </p:sp>
      <p:sp>
        <p:nvSpPr>
          <p:cNvPr id="11272" name="object 8"/>
          <p:cNvSpPr>
            <a:spLocks/>
          </p:cNvSpPr>
          <p:nvPr/>
        </p:nvSpPr>
        <p:spPr bwMode="auto">
          <a:xfrm>
            <a:off x="11617325" y="5313363"/>
            <a:ext cx="3876675" cy="2914650"/>
          </a:xfrm>
          <a:custGeom>
            <a:avLst/>
            <a:gdLst>
              <a:gd name="T0" fmla="*/ 339875 w 3876040"/>
              <a:gd name="T1" fmla="*/ 2914649 h 2914650"/>
              <a:gd name="T2" fmla="*/ 265781 w 3876040"/>
              <a:gd name="T3" fmla="*/ 2903209 h 2914650"/>
              <a:gd name="T4" fmla="*/ 221116 w 3876040"/>
              <a:gd name="T5" fmla="*/ 2887695 h 2914650"/>
              <a:gd name="T6" fmla="*/ 179322 w 3876040"/>
              <a:gd name="T7" fmla="*/ 2866722 h 2914650"/>
              <a:gd name="T8" fmla="*/ 140829 w 3876040"/>
              <a:gd name="T9" fmla="*/ 2840723 h 2914650"/>
              <a:gd name="T10" fmla="*/ 106070 w 3876040"/>
              <a:gd name="T11" fmla="*/ 2810129 h 2914650"/>
              <a:gd name="T12" fmla="*/ 75476 w 3876040"/>
              <a:gd name="T13" fmla="*/ 2775369 h 2914650"/>
              <a:gd name="T14" fmla="*/ 49477 w 3876040"/>
              <a:gd name="T15" fmla="*/ 2736877 h 2914650"/>
              <a:gd name="T16" fmla="*/ 28505 w 3876040"/>
              <a:gd name="T17" fmla="*/ 2695083 h 2914650"/>
              <a:gd name="T18" fmla="*/ 12991 w 3876040"/>
              <a:gd name="T19" fmla="*/ 2650418 h 2914650"/>
              <a:gd name="T20" fmla="*/ 3366 w 3876040"/>
              <a:gd name="T21" fmla="*/ 2603314 h 2914650"/>
              <a:gd name="T22" fmla="*/ 0 w 3876040"/>
              <a:gd name="T23" fmla="*/ 2554201 h 2914650"/>
              <a:gd name="T24" fmla="*/ 0 w 3876040"/>
              <a:gd name="T25" fmla="*/ 361931 h 2914650"/>
              <a:gd name="T26" fmla="*/ 3366 w 3876040"/>
              <a:gd name="T27" fmla="*/ 312823 h 2914650"/>
              <a:gd name="T28" fmla="*/ 12991 w 3876040"/>
              <a:gd name="T29" fmla="*/ 265719 h 2914650"/>
              <a:gd name="T30" fmla="*/ 28505 w 3876040"/>
              <a:gd name="T31" fmla="*/ 221054 h 2914650"/>
              <a:gd name="T32" fmla="*/ 49477 w 3876040"/>
              <a:gd name="T33" fmla="*/ 179260 h 2914650"/>
              <a:gd name="T34" fmla="*/ 75476 w 3876040"/>
              <a:gd name="T35" fmla="*/ 140767 h 2914650"/>
              <a:gd name="T36" fmla="*/ 106070 w 3876040"/>
              <a:gd name="T37" fmla="*/ 106008 h 2914650"/>
              <a:gd name="T38" fmla="*/ 140829 w 3876040"/>
              <a:gd name="T39" fmla="*/ 75414 h 2914650"/>
              <a:gd name="T40" fmla="*/ 179322 w 3876040"/>
              <a:gd name="T41" fmla="*/ 49415 h 2914650"/>
              <a:gd name="T42" fmla="*/ 221116 w 3876040"/>
              <a:gd name="T43" fmla="*/ 28442 h 2914650"/>
              <a:gd name="T44" fmla="*/ 265781 w 3876040"/>
              <a:gd name="T45" fmla="*/ 12928 h 2914650"/>
              <a:gd name="T46" fmla="*/ 312885 w 3876040"/>
              <a:gd name="T47" fmla="*/ 3304 h 2914650"/>
              <a:gd name="T48" fmla="*/ 361998 w 3876040"/>
              <a:gd name="T49" fmla="*/ 0 h 2914650"/>
              <a:gd name="T50" fmla="*/ 3513634 w 3876040"/>
              <a:gd name="T51" fmla="*/ 0 h 2914650"/>
              <a:gd name="T52" fmla="*/ 3562746 w 3876040"/>
              <a:gd name="T53" fmla="*/ 3303 h 2914650"/>
              <a:gd name="T54" fmla="*/ 3609851 w 3876040"/>
              <a:gd name="T55" fmla="*/ 12928 h 2914650"/>
              <a:gd name="T56" fmla="*/ 3654516 w 3876040"/>
              <a:gd name="T57" fmla="*/ 28442 h 2914650"/>
              <a:gd name="T58" fmla="*/ 3696310 w 3876040"/>
              <a:gd name="T59" fmla="*/ 49414 h 2914650"/>
              <a:gd name="T60" fmla="*/ 3734802 w 3876040"/>
              <a:gd name="T61" fmla="*/ 75413 h 2914650"/>
              <a:gd name="T62" fmla="*/ 3769562 w 3876040"/>
              <a:gd name="T63" fmla="*/ 106007 h 2914650"/>
              <a:gd name="T64" fmla="*/ 3800157 w 3876040"/>
              <a:gd name="T65" fmla="*/ 140767 h 2914650"/>
              <a:gd name="T66" fmla="*/ 3826156 w 3876040"/>
              <a:gd name="T67" fmla="*/ 179259 h 2914650"/>
              <a:gd name="T68" fmla="*/ 3847128 w 3876040"/>
              <a:gd name="T69" fmla="*/ 221053 h 2914650"/>
              <a:gd name="T70" fmla="*/ 3862642 w 3876040"/>
              <a:gd name="T71" fmla="*/ 265718 h 2914650"/>
              <a:gd name="T72" fmla="*/ 3872267 w 3876040"/>
              <a:gd name="T73" fmla="*/ 312823 h 2914650"/>
              <a:gd name="T74" fmla="*/ 3875571 w 3876040"/>
              <a:gd name="T75" fmla="*/ 361935 h 2914650"/>
              <a:gd name="T76" fmla="*/ 3875571 w 3876040"/>
              <a:gd name="T77" fmla="*/ 2554201 h 2914650"/>
              <a:gd name="T78" fmla="*/ 3872267 w 3876040"/>
              <a:gd name="T79" fmla="*/ 2603314 h 2914650"/>
              <a:gd name="T80" fmla="*/ 3862642 w 3876040"/>
              <a:gd name="T81" fmla="*/ 2650419 h 2914650"/>
              <a:gd name="T82" fmla="*/ 3847128 w 3876040"/>
              <a:gd name="T83" fmla="*/ 2695084 h 2914650"/>
              <a:gd name="T84" fmla="*/ 3826156 w 3876040"/>
              <a:gd name="T85" fmla="*/ 2736878 h 2914650"/>
              <a:gd name="T86" fmla="*/ 3800157 w 3876040"/>
              <a:gd name="T87" fmla="*/ 2775370 h 2914650"/>
              <a:gd name="T88" fmla="*/ 3769562 w 3876040"/>
              <a:gd name="T89" fmla="*/ 2810129 h 2914650"/>
              <a:gd name="T90" fmla="*/ 3734802 w 3876040"/>
              <a:gd name="T91" fmla="*/ 2840724 h 2914650"/>
              <a:gd name="T92" fmla="*/ 3696310 w 3876040"/>
              <a:gd name="T93" fmla="*/ 2866723 h 2914650"/>
              <a:gd name="T94" fmla="*/ 3654516 w 3876040"/>
              <a:gd name="T95" fmla="*/ 2887695 h 2914650"/>
              <a:gd name="T96" fmla="*/ 3609851 w 3876040"/>
              <a:gd name="T97" fmla="*/ 2903209 h 2914650"/>
              <a:gd name="T98" fmla="*/ 3562746 w 3876040"/>
              <a:gd name="T99" fmla="*/ 2912834 h 2914650"/>
              <a:gd name="T100" fmla="*/ 3535758 w 3876040"/>
              <a:gd name="T101" fmla="*/ 2914649 h 2914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876040" h="2914650">
                <a:moveTo>
                  <a:pt x="339875" y="2914649"/>
                </a:moveTo>
                <a:lnTo>
                  <a:pt x="265781" y="2903209"/>
                </a:lnTo>
                <a:lnTo>
                  <a:pt x="221116" y="2887695"/>
                </a:lnTo>
                <a:lnTo>
                  <a:pt x="179322" y="2866722"/>
                </a:lnTo>
                <a:lnTo>
                  <a:pt x="140829" y="2840723"/>
                </a:lnTo>
                <a:lnTo>
                  <a:pt x="106070" y="2810129"/>
                </a:lnTo>
                <a:lnTo>
                  <a:pt x="75476" y="2775369"/>
                </a:lnTo>
                <a:lnTo>
                  <a:pt x="49477" y="2736877"/>
                </a:lnTo>
                <a:lnTo>
                  <a:pt x="28505" y="2695083"/>
                </a:lnTo>
                <a:lnTo>
                  <a:pt x="12991" y="2650418"/>
                </a:lnTo>
                <a:lnTo>
                  <a:pt x="3366" y="2603314"/>
                </a:lnTo>
                <a:lnTo>
                  <a:pt x="0" y="2554201"/>
                </a:lnTo>
                <a:lnTo>
                  <a:pt x="0" y="361931"/>
                </a:lnTo>
                <a:lnTo>
                  <a:pt x="3366" y="312823"/>
                </a:lnTo>
                <a:lnTo>
                  <a:pt x="12991" y="265719"/>
                </a:lnTo>
                <a:lnTo>
                  <a:pt x="28505" y="221054"/>
                </a:lnTo>
                <a:lnTo>
                  <a:pt x="49477" y="179260"/>
                </a:lnTo>
                <a:lnTo>
                  <a:pt x="75476" y="140767"/>
                </a:lnTo>
                <a:lnTo>
                  <a:pt x="106070" y="106008"/>
                </a:lnTo>
                <a:lnTo>
                  <a:pt x="140829" y="75414"/>
                </a:lnTo>
                <a:lnTo>
                  <a:pt x="179322" y="49415"/>
                </a:lnTo>
                <a:lnTo>
                  <a:pt x="221116" y="28442"/>
                </a:lnTo>
                <a:lnTo>
                  <a:pt x="265781" y="12928"/>
                </a:lnTo>
                <a:lnTo>
                  <a:pt x="312885" y="3304"/>
                </a:lnTo>
                <a:lnTo>
                  <a:pt x="361998" y="0"/>
                </a:lnTo>
                <a:lnTo>
                  <a:pt x="3513634" y="0"/>
                </a:lnTo>
                <a:lnTo>
                  <a:pt x="3562746" y="3303"/>
                </a:lnTo>
                <a:lnTo>
                  <a:pt x="3609851" y="12928"/>
                </a:lnTo>
                <a:lnTo>
                  <a:pt x="3654516" y="28442"/>
                </a:lnTo>
                <a:lnTo>
                  <a:pt x="3696310" y="49414"/>
                </a:lnTo>
                <a:lnTo>
                  <a:pt x="3734802" y="75413"/>
                </a:lnTo>
                <a:lnTo>
                  <a:pt x="3769562" y="106007"/>
                </a:lnTo>
                <a:lnTo>
                  <a:pt x="3800157" y="140767"/>
                </a:lnTo>
                <a:lnTo>
                  <a:pt x="3826156" y="179259"/>
                </a:lnTo>
                <a:lnTo>
                  <a:pt x="3847128" y="221053"/>
                </a:lnTo>
                <a:lnTo>
                  <a:pt x="3862642" y="265718"/>
                </a:lnTo>
                <a:lnTo>
                  <a:pt x="3872267" y="312823"/>
                </a:lnTo>
                <a:lnTo>
                  <a:pt x="3875571" y="361935"/>
                </a:lnTo>
                <a:lnTo>
                  <a:pt x="3875571" y="2554201"/>
                </a:lnTo>
                <a:lnTo>
                  <a:pt x="3872267" y="2603314"/>
                </a:lnTo>
                <a:lnTo>
                  <a:pt x="3862642" y="2650419"/>
                </a:lnTo>
                <a:lnTo>
                  <a:pt x="3847128" y="2695084"/>
                </a:lnTo>
                <a:lnTo>
                  <a:pt x="3826156" y="2736878"/>
                </a:lnTo>
                <a:lnTo>
                  <a:pt x="3800157" y="2775370"/>
                </a:lnTo>
                <a:lnTo>
                  <a:pt x="3769562" y="2810129"/>
                </a:lnTo>
                <a:lnTo>
                  <a:pt x="3734802" y="2840724"/>
                </a:lnTo>
                <a:lnTo>
                  <a:pt x="3696310" y="2866723"/>
                </a:lnTo>
                <a:lnTo>
                  <a:pt x="3654516" y="2887695"/>
                </a:lnTo>
                <a:lnTo>
                  <a:pt x="3609851" y="2903209"/>
                </a:lnTo>
                <a:lnTo>
                  <a:pt x="3562746" y="2912834"/>
                </a:lnTo>
                <a:lnTo>
                  <a:pt x="3535758" y="2914649"/>
                </a:lnTo>
              </a:path>
            </a:pathLst>
          </a:custGeom>
          <a:noFill/>
          <a:ln w="76199" algn="ctr">
            <a:solidFill>
              <a:srgbClr val="1F2B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9" name="object 9"/>
          <p:cNvSpPr txBox="1"/>
          <p:nvPr/>
        </p:nvSpPr>
        <p:spPr>
          <a:xfrm>
            <a:off x="12309475" y="5310188"/>
            <a:ext cx="2495550" cy="2914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240" rIns="0" bIns="0">
            <a:spAutoFit/>
          </a:bodyPr>
          <a:lstStyle/>
          <a:p>
            <a:pPr marL="20955" algn="ctr" eaLnBrk="0" fontAlgn="auto" hangingPunct="0">
              <a:spcBef>
                <a:spcPts val="120"/>
              </a:spcBef>
              <a:buSzTx/>
              <a:buFontTx/>
              <a:buNone/>
            </a:pPr>
            <a:r>
              <a:rPr sz="40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03</a:t>
            </a:r>
            <a:endParaRPr sz="4000">
              <a:latin typeface="Arial"/>
            </a:endParaRPr>
          </a:p>
          <a:p>
            <a:pPr marL="82550" marR="74930" algn="ctr" eaLnBrk="0" fontAlgn="auto" hangingPunct="0">
              <a:lnSpc>
                <a:spcPct val="116700"/>
              </a:lnSpc>
              <a:spcBef>
                <a:spcPts val="3225"/>
              </a:spcBef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Climate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Prediction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&amp;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Smart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Cities</a:t>
            </a:r>
            <a:endParaRPr sz="1500">
              <a:latin typeface="Arial"/>
            </a:endParaRPr>
          </a:p>
          <a:p>
            <a:pPr marL="12065" marR="5080" algn="ctr" eaLnBrk="0" fontAlgn="auto" hangingPunct="0">
              <a:lnSpc>
                <a:spcPct val="116700"/>
              </a:lnSpc>
              <a:buSzTx/>
              <a:buFontTx/>
              <a:buNone/>
            </a:pP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climate</a:t>
            </a:r>
            <a:r>
              <a:rPr sz="1500"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forecasting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scenario</a:t>
            </a:r>
            <a:r>
              <a:rPr sz="1500"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analysis.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Integrated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systems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urban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sustainability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z="1500"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smart</a:t>
            </a:r>
            <a:r>
              <a:rPr sz="1500"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z="1500"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city </a:t>
            </a:r>
            <a:r>
              <a:rPr sz="1500"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development.</a:t>
            </a:r>
            <a:endParaRPr sz="1500">
              <a:latin typeface="Arial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object 2"/>
          <p:cNvGrpSpPr>
            <a:grpSpLocks/>
          </p:cNvGrpSpPr>
          <p:nvPr/>
        </p:nvGrpSpPr>
        <p:grpSpPr bwMode="auto"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12291" name="object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283999" cy="10238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</p:pic>
        <p:sp>
          <p:nvSpPr>
            <p:cNvPr id="12292" name="object 4"/>
            <p:cNvSpPr>
              <a:spLocks/>
            </p:cNvSpPr>
            <p:nvPr/>
          </p:nvSpPr>
          <p:spPr bwMode="auto">
            <a:xfrm>
              <a:off x="16793094" y="0"/>
              <a:ext cx="1495425" cy="10287000"/>
            </a:xfrm>
            <a:custGeom>
              <a:avLst/>
              <a:gdLst>
                <a:gd name="T0" fmla="*/ 1494905 w 1495425"/>
                <a:gd name="T1" fmla="*/ 10287000 h 10287000"/>
                <a:gd name="T2" fmla="*/ 0 w 1495425"/>
                <a:gd name="T3" fmla="*/ 10287000 h 10287000"/>
                <a:gd name="T4" fmla="*/ 0 w 1495425"/>
                <a:gd name="T5" fmla="*/ 0 h 10287000"/>
                <a:gd name="T6" fmla="*/ 1494905 w 1495425"/>
                <a:gd name="T7" fmla="*/ 0 h 10287000"/>
                <a:gd name="T8" fmla="*/ 1494905 w 1495425"/>
                <a:gd name="T9" fmla="*/ 10287000 h 10287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5425" h="10287000">
                  <a:moveTo>
                    <a:pt x="149490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1494905" y="0"/>
                  </a:lnTo>
                  <a:lnTo>
                    <a:pt x="1494905" y="10287000"/>
                  </a:lnTo>
                  <a:close/>
                </a:path>
              </a:pathLst>
            </a:custGeom>
            <a:solidFill>
              <a:srgbClr val="33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278313" y="2678113"/>
            <a:ext cx="8647112" cy="1125537"/>
          </a:xfrm>
          <a:ln cap="flat" algn="ctr">
            <a:round/>
            <a:headEnd type="none" w="med" len="med"/>
            <a:tailEnd type="none" w="med" len="med"/>
          </a:ln>
        </p:spPr>
        <p:txBody>
          <a:bodyPr tIns="14604"/>
          <a:lstStyle/>
          <a:p>
            <a:pPr marL="12700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CHALLENGES OF 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35175" y="4214813"/>
            <a:ext cx="13131800" cy="3911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1430" rIns="0" bIns="0">
            <a:spAutoFit/>
          </a:bodyPr>
          <a:lstStyle/>
          <a:p>
            <a:pPr marL="12700" marR="5080" indent="177800" eaLnBrk="0" fontAlgn="auto" hangingPunct="0">
              <a:lnSpc>
                <a:spcPct val="118100"/>
              </a:lnSpc>
              <a:spcBef>
                <a:spcPts val="90"/>
              </a:spcBef>
              <a:buSzTx/>
              <a:buFontTx/>
              <a:buChar char="•"/>
              <a:tabLst>
                <a:tab pos="190500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High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Energy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Consumption:</a:t>
            </a:r>
            <a:r>
              <a:rPr spc="2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Training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2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running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large</a:t>
            </a:r>
            <a:r>
              <a:rPr spc="1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models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requires</a:t>
            </a:r>
            <a:r>
              <a:rPr spc="2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enormous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amounts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electricity,</a:t>
            </a:r>
            <a:r>
              <a:rPr spc="2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contributing</a:t>
            </a:r>
            <a:r>
              <a:rPr spc="2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increased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emissions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strain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on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power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grids.</a:t>
            </a:r>
            <a:endParaRPr>
              <a:latin typeface="Arial"/>
            </a:endParaRPr>
          </a:p>
          <a:p>
            <a:pPr marL="12700" marR="5080" indent="187960" eaLnBrk="0" fontAlgn="auto" hangingPunct="0">
              <a:lnSpc>
                <a:spcPct val="118100"/>
              </a:lnSpc>
              <a:buSzTx/>
              <a:buFontTx/>
              <a:buChar char="•"/>
              <a:tabLst>
                <a:tab pos="200660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Massive</a:t>
            </a:r>
            <a:r>
              <a:rPr spc="3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Infrastructure:</a:t>
            </a:r>
            <a:r>
              <a:rPr spc="2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3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workloads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demand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vast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server</a:t>
            </a:r>
            <a:r>
              <a:rPr spc="3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farms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with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continuous</a:t>
            </a:r>
            <a:r>
              <a:rPr spc="3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power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supply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7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complex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cooling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systems,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driving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up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resource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consumption.</a:t>
            </a:r>
            <a:endParaRPr>
              <a:latin typeface="Arial"/>
            </a:endParaRPr>
          </a:p>
          <a:p>
            <a:pPr marL="12700" marR="5080" indent="200025" eaLnBrk="0" fontAlgn="auto" hangingPunct="0">
              <a:lnSpc>
                <a:spcPct val="118100"/>
              </a:lnSpc>
              <a:buSzTx/>
              <a:buFontTx/>
              <a:buChar char="•"/>
              <a:tabLst>
                <a:tab pos="21272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Electronic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Waste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(E-Waste):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Rapid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hardware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turnover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</a:t>
            </a:r>
            <a:r>
              <a:rPr spc="3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infrastructure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generates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significant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electronic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waste,</a:t>
            </a:r>
            <a:r>
              <a:rPr spc="45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posing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serious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environmental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health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hazards.</a:t>
            </a:r>
            <a:endParaRPr>
              <a:latin typeface="Arial"/>
            </a:endParaRPr>
          </a:p>
          <a:p>
            <a:pPr marL="12700" marR="5080" indent="167005" eaLnBrk="0" fontAlgn="auto" hangingPunct="0">
              <a:lnSpc>
                <a:spcPct val="118100"/>
              </a:lnSpc>
              <a:buSzTx/>
              <a:buFontTx/>
              <a:buChar char="•"/>
              <a:tabLst>
                <a:tab pos="17970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Emissions:</a:t>
            </a:r>
            <a:r>
              <a:rPr spc="9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204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model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training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cycles</a:t>
            </a:r>
            <a:r>
              <a:rPr spc="204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—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especially</a:t>
            </a:r>
            <a:r>
              <a:rPr spc="204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large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language</a:t>
            </a:r>
            <a:r>
              <a:rPr spc="204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vision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models</a:t>
            </a:r>
            <a:r>
              <a:rPr spc="204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—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produce</a:t>
            </a:r>
            <a:r>
              <a:rPr spc="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substantial</a:t>
            </a:r>
            <a:r>
              <a:rPr spc="204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</a:t>
            </a:r>
            <a:r>
              <a:rPr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Calibri"/>
                <a:cs typeface="Calibri"/>
              </a:rPr>
              <a:t>₂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emissions,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accelerating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climate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change.</a:t>
            </a:r>
            <a:endParaRPr>
              <a:latin typeface="Arial"/>
            </a:endParaRPr>
          </a:p>
          <a:p>
            <a:pPr marL="12700" marR="5080" indent="151765" eaLnBrk="0" fontAlgn="auto" hangingPunct="0">
              <a:lnSpc>
                <a:spcPct val="118100"/>
              </a:lnSpc>
              <a:buSzTx/>
              <a:buFontTx/>
              <a:buChar char="•"/>
              <a:tabLst>
                <a:tab pos="16446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Ethical</a:t>
            </a:r>
            <a:r>
              <a:rPr spc="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Concerns: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Issues</a:t>
            </a:r>
            <a:r>
              <a:rPr spc="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bias,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fairness,</a:t>
            </a:r>
            <a:r>
              <a:rPr spc="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transparency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</a:t>
            </a:r>
            <a:r>
              <a:rPr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systems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raise</a:t>
            </a:r>
            <a:r>
              <a:rPr spc="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questions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about</a:t>
            </a:r>
            <a:r>
              <a:rPr spc="8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responsible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deployment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equitable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impact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across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communities.</a:t>
            </a:r>
            <a:endParaRPr>
              <a:latin typeface="Arial"/>
            </a:endParaRPr>
          </a:p>
          <a:p>
            <a:pPr marL="12700" marR="5080" indent="157480" eaLnBrk="0" fontAlgn="auto" hangingPunct="0">
              <a:lnSpc>
                <a:spcPct val="118100"/>
              </a:lnSpc>
              <a:buSzTx/>
              <a:buFontTx/>
              <a:buChar char="•"/>
              <a:tabLst>
                <a:tab pos="170180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Need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AI: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Developing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energy-efficient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algorithms,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using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renewable-powered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centres,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adopting</a:t>
            </a:r>
            <a:r>
              <a:rPr spc="1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sustainable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practices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are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essential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minimise</a:t>
            </a:r>
            <a:r>
              <a:rPr spc="-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AI's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environmental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footprint.</a:t>
            </a:r>
            <a:endParaRPr>
              <a:latin typeface="Arial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700"/>
            <a:ext cx="1828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76650" y="1763713"/>
            <a:ext cx="10842625" cy="1127125"/>
          </a:xfrm>
          <a:ln cap="flat" algn="ctr">
            <a:round/>
            <a:headEnd type="none" w="med" len="med"/>
            <a:tailEnd type="none" w="med" len="med"/>
          </a:ln>
        </p:spPr>
        <p:txBody>
          <a:bodyPr tIns="15240"/>
          <a:lstStyle/>
          <a:p>
            <a:pPr marL="12700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ACTIVITIES COMPLETED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5875" y="3581400"/>
            <a:ext cx="3259138" cy="3743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100"/>
              </a:spcBef>
            </a:pPr>
            <a:r>
              <a:rPr lang="ru-RU" sz="5400" b="1">
                <a:latin typeface="Arial" panose="020B0604020202020204" pitchFamily="34" charset="0"/>
              </a:rPr>
              <a:t>1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lnSpc>
                <a:spcPct val="116000"/>
              </a:lnSpc>
              <a:spcBef>
                <a:spcPts val="2238"/>
              </a:spcBef>
            </a:pPr>
            <a:r>
              <a:rPr lang="ru-RU" sz="19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📹 </a:t>
            </a:r>
            <a:r>
              <a:rPr lang="ru-RU">
                <a:latin typeface="Arial" panose="020B0604020202020204" pitchFamily="34" charset="0"/>
              </a:rPr>
              <a:t>Data Centre Documentary High energy &amp; cooling needs of data centres observed.</a:t>
            </a:r>
          </a:p>
          <a:p>
            <a:pPr algn="ctr">
              <a:lnSpc>
                <a:spcPts val="2550"/>
              </a:lnSpc>
              <a:spcBef>
                <a:spcPts val="150"/>
              </a:spcBef>
            </a:pPr>
            <a:r>
              <a:rPr lang="ru-RU" sz="20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🌍 </a:t>
            </a:r>
            <a:r>
              <a:rPr lang="ru-RU">
                <a:latin typeface="Arial" panose="020B0604020202020204" pitchFamily="34" charset="0"/>
              </a:rPr>
              <a:t>Ecological Footprint Calculator</a:t>
            </a:r>
          </a:p>
          <a:p>
            <a:pPr algn="ctr">
              <a:spcBef>
                <a:spcPts val="238"/>
              </a:spcBef>
            </a:pPr>
            <a:r>
              <a:rPr lang="ru-RU">
                <a:latin typeface="Arial" panose="020B0604020202020204" pitchFamily="34" charset="0"/>
              </a:rPr>
              <a:t>Measured personal</a:t>
            </a:r>
          </a:p>
          <a:p>
            <a:pPr algn="ctr">
              <a:lnSpc>
                <a:spcPct val="118000"/>
              </a:lnSpc>
            </a:pPr>
            <a:r>
              <a:rPr lang="ru-RU">
                <a:latin typeface="Arial" panose="020B0604020202020204" pitchFamily="34" charset="0"/>
              </a:rPr>
              <a:t>environmental impact &amp; resource usage.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43800" y="3581400"/>
            <a:ext cx="3078163" cy="3743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285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100"/>
              </a:spcBef>
            </a:pPr>
            <a:r>
              <a:rPr lang="ru-RU" sz="5400" b="1">
                <a:latin typeface="Arial" panose="020B0604020202020204" pitchFamily="34" charset="0"/>
              </a:rPr>
              <a:t>2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lnSpc>
                <a:spcPct val="116000"/>
              </a:lnSpc>
              <a:spcBef>
                <a:spcPts val="2075"/>
              </a:spcBef>
            </a:pPr>
            <a:r>
              <a:rPr lang="ru-RU" sz="21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🧮 </a:t>
            </a:r>
            <a:r>
              <a:rPr lang="ru-RU">
                <a:latin typeface="Arial" panose="020B0604020202020204" pitchFamily="34" charset="0"/>
              </a:rPr>
              <a:t>Carbon Calculator Tracked &amp; identified ways to reduce personal carbon footprint.</a:t>
            </a:r>
          </a:p>
          <a:p>
            <a:pPr algn="ctr">
              <a:lnSpc>
                <a:spcPts val="2550"/>
              </a:lnSpc>
              <a:spcBef>
                <a:spcPts val="100"/>
              </a:spcBef>
            </a:pPr>
            <a:r>
              <a:rPr lang="ru-RU" sz="20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🌡 </a:t>
            </a:r>
            <a:r>
              <a:rPr lang="ru-RU">
                <a:latin typeface="Arial" panose="020B0604020202020204" pitchFamily="34" charset="0"/>
              </a:rPr>
              <a:t>MIT En-ROADS Simulator Explored how climate policies affect global temperature outcomes.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414250" y="3581400"/>
            <a:ext cx="3375025" cy="3095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2700" rIns="0" bIns="0">
            <a:spAutoFit/>
          </a:bodyPr>
          <a:lstStyle>
            <a:lvl1pPr marL="3524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100"/>
              </a:spcBef>
            </a:pPr>
            <a:r>
              <a:rPr lang="ru-RU" sz="5400" b="1">
                <a:latin typeface="Arial" panose="020B0604020202020204" pitchFamily="34" charset="0"/>
              </a:rPr>
              <a:t>3</a:t>
            </a:r>
            <a:endParaRPr lang="ru-RU" sz="5400">
              <a:latin typeface="Arial" panose="020B0604020202020204" pitchFamily="34" charset="0"/>
            </a:endParaRPr>
          </a:p>
          <a:p>
            <a:pPr algn="ctr">
              <a:lnSpc>
                <a:spcPct val="113000"/>
              </a:lnSpc>
              <a:spcBef>
                <a:spcPts val="2188"/>
              </a:spcBef>
            </a:pPr>
            <a:r>
              <a:rPr lang="ru-RU" sz="2000">
                <a:latin typeface="Segoe UI Emoji" panose="020B0502040204020203" pitchFamily="34" charset="0"/>
                <a:ea typeface="Segoe UI Emoji" panose="020B0502040204020203" pitchFamily="34" charset="0"/>
                <a:cs typeface="Segoe UI Emoji" panose="020B0502040204020203" pitchFamily="34" charset="0"/>
              </a:rPr>
              <a:t>♻ </a:t>
            </a:r>
            <a:r>
              <a:rPr lang="ru-RU">
                <a:latin typeface="Arial" panose="020B0604020202020204" pitchFamily="34" charset="0"/>
              </a:rPr>
              <a:t>NANDO AI Smart Bins AI-powered waste sorting</a:t>
            </a:r>
          </a:p>
          <a:p>
            <a:pPr algn="ctr">
              <a:spcBef>
                <a:spcPts val="388"/>
              </a:spcBef>
            </a:pPr>
            <a:r>
              <a:rPr lang="ru-RU">
                <a:latin typeface="Arial" panose="020B0604020202020204" pitchFamily="34" charset="0"/>
              </a:rPr>
              <a:t>optimizes recycling efficiency.</a:t>
            </a:r>
          </a:p>
          <a:p>
            <a:pPr algn="ctr">
              <a:lnSpc>
                <a:spcPts val="2550"/>
              </a:lnSpc>
              <a:spcBef>
                <a:spcPts val="100"/>
              </a:spcBef>
            </a:pPr>
            <a:r>
              <a:rPr lang="ru-RU" sz="1900">
                <a:latin typeface="Segoe UI Symbol" panose="020B0502040204020203" pitchFamily="34" charset="0"/>
                <a:ea typeface="Segoe UI Symbol" panose="020B0502040204020203" pitchFamily="34" charset="0"/>
                <a:cs typeface="Segoe UI Symbol" panose="020B0502040204020203" pitchFamily="34" charset="0"/>
              </a:rPr>
              <a:t>💼 </a:t>
            </a:r>
            <a:r>
              <a:rPr lang="ru-RU">
                <a:latin typeface="Arial" panose="020B0604020202020204" pitchFamily="34" charset="0"/>
              </a:rPr>
              <a:t>SCGJ Green Jobs Portal Explored green career pathways &amp; sustainability skill demands.</a:t>
            </a:r>
          </a:p>
        </p:txBody>
      </p:sp>
      <p:grpSp>
        <p:nvGrpSpPr>
          <p:cNvPr id="13319" name="object 7"/>
          <p:cNvGrpSpPr>
            <a:grpSpLocks/>
          </p:cNvGrpSpPr>
          <p:nvPr/>
        </p:nvGrpSpPr>
        <p:grpSpPr bwMode="auto">
          <a:xfrm>
            <a:off x="6615113" y="3803650"/>
            <a:ext cx="4997450" cy="2581275"/>
            <a:chOff x="6615076" y="3803034"/>
            <a:chExt cx="4996815" cy="2581910"/>
          </a:xfrm>
        </p:grpSpPr>
        <p:sp>
          <p:nvSpPr>
            <p:cNvPr id="13320" name="object 8"/>
            <p:cNvSpPr>
              <a:spLocks/>
            </p:cNvSpPr>
            <p:nvPr/>
          </p:nvSpPr>
          <p:spPr bwMode="auto">
            <a:xfrm>
              <a:off x="6634126" y="3803034"/>
              <a:ext cx="0" cy="2581910"/>
            </a:xfrm>
            <a:custGeom>
              <a:avLst/>
              <a:gdLst>
                <a:gd name="T0" fmla="*/ 0 w 21600"/>
                <a:gd name="T1" fmla="*/ 2581419 h 2581910"/>
                <a:gd name="T2" fmla="*/ 0 w 21600"/>
                <a:gd name="T3" fmla="*/ 0 h 258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00" h="2581910">
                  <a:moveTo>
                    <a:pt x="0" y="2581419"/>
                  </a:moveTo>
                  <a:lnTo>
                    <a:pt x="0" y="0"/>
                  </a:lnTo>
                </a:path>
              </a:pathLst>
            </a:custGeom>
            <a:noFill/>
            <a:ln w="38099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3321" name="object 9"/>
            <p:cNvSpPr>
              <a:spLocks/>
            </p:cNvSpPr>
            <p:nvPr/>
          </p:nvSpPr>
          <p:spPr bwMode="auto">
            <a:xfrm>
              <a:off x="11592682" y="3803034"/>
              <a:ext cx="0" cy="2581910"/>
            </a:xfrm>
            <a:custGeom>
              <a:avLst/>
              <a:gdLst>
                <a:gd name="T0" fmla="*/ 0 w 21600"/>
                <a:gd name="T1" fmla="*/ 2581419 h 2581910"/>
                <a:gd name="T2" fmla="*/ 0 w 21600"/>
                <a:gd name="T3" fmla="*/ 0 h 258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00" h="2581910">
                  <a:moveTo>
                    <a:pt x="0" y="2581419"/>
                  </a:moveTo>
                  <a:lnTo>
                    <a:pt x="0" y="0"/>
                  </a:lnTo>
                </a:path>
              </a:pathLst>
            </a:custGeom>
            <a:noFill/>
            <a:ln w="38099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object 2"/>
          <p:cNvGrpSpPr>
            <a:grpSpLocks/>
          </p:cNvGrpSpPr>
          <p:nvPr/>
        </p:nvGrpSpPr>
        <p:grpSpPr bwMode="auto"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14339" name="object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283999" cy="10238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</p:pic>
        <p:sp>
          <p:nvSpPr>
            <p:cNvPr id="14340" name="object 4"/>
            <p:cNvSpPr>
              <a:spLocks/>
            </p:cNvSpPr>
            <p:nvPr/>
          </p:nvSpPr>
          <p:spPr bwMode="auto">
            <a:xfrm>
              <a:off x="16793094" y="0"/>
              <a:ext cx="1495425" cy="10287000"/>
            </a:xfrm>
            <a:custGeom>
              <a:avLst/>
              <a:gdLst>
                <a:gd name="T0" fmla="*/ 1494905 w 1495425"/>
                <a:gd name="T1" fmla="*/ 10287000 h 10287000"/>
                <a:gd name="T2" fmla="*/ 0 w 1495425"/>
                <a:gd name="T3" fmla="*/ 10287000 h 10287000"/>
                <a:gd name="T4" fmla="*/ 0 w 1495425"/>
                <a:gd name="T5" fmla="*/ 0 h 10287000"/>
                <a:gd name="T6" fmla="*/ 1494905 w 1495425"/>
                <a:gd name="T7" fmla="*/ 0 h 10287000"/>
                <a:gd name="T8" fmla="*/ 1494905 w 1495425"/>
                <a:gd name="T9" fmla="*/ 10287000 h 10287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5425" h="10287000">
                  <a:moveTo>
                    <a:pt x="149490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1494905" y="0"/>
                  </a:lnTo>
                  <a:lnTo>
                    <a:pt x="1494905" y="10287000"/>
                  </a:lnTo>
                  <a:close/>
                </a:path>
              </a:pathLst>
            </a:custGeom>
            <a:solidFill>
              <a:srgbClr val="33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02213" y="2678113"/>
            <a:ext cx="7199312" cy="1125537"/>
          </a:xfrm>
          <a:ln cap="flat" algn="ctr">
            <a:round/>
            <a:headEnd type="none" w="med" len="med"/>
            <a:tailEnd type="none" w="med" len="med"/>
          </a:ln>
        </p:spPr>
        <p:txBody>
          <a:bodyPr tIns="14604"/>
          <a:lstStyle/>
          <a:p>
            <a:pPr marL="12700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KEY LEARNINGS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35175" y="4214813"/>
            <a:ext cx="11464925" cy="19685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60960" rIns="0" bIns="0">
            <a:spAutoFit/>
          </a:bodyPr>
          <a:lstStyle/>
          <a:p>
            <a:pPr marL="158115" indent="-145415" eaLnBrk="0" fontAlgn="auto" hangingPunct="0">
              <a:spcBef>
                <a:spcPts val="48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Sustainability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is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everyone's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responsibility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—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individual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collective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actions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shape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our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planet's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future</a:t>
            </a:r>
            <a:endParaRPr>
              <a:latin typeface="Arial"/>
            </a:endParaRPr>
          </a:p>
          <a:p>
            <a:pPr marL="145415" indent="-1327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454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must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be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used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responsibly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with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careful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consideration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its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environmental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ethical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implications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skills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significantly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improve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employability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emerging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sustainable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technology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sectors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must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transition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renewable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energy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sources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reduce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their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massive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SDG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17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success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requires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multi-sector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global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collaboration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—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governments,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industries,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academia,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citizens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Small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individual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actions,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when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multiplied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across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communities,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compound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into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significant</a:t>
            </a:r>
            <a:r>
              <a:rPr spc="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global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impact</a:t>
            </a:r>
            <a:endParaRPr>
              <a:latin typeface="Arial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object 2"/>
          <p:cNvGrpSpPr>
            <a:grpSpLocks/>
          </p:cNvGrpSpPr>
          <p:nvPr/>
        </p:nvGrpSpPr>
        <p:grpSpPr bwMode="auto">
          <a:xfrm>
            <a:off x="0" y="0"/>
            <a:ext cx="18284825" cy="10287000"/>
            <a:chOff x="0" y="0"/>
            <a:chExt cx="18284189" cy="10287000"/>
          </a:xfrm>
        </p:grpSpPr>
        <p:sp>
          <p:nvSpPr>
            <p:cNvPr id="15363" name="object 3"/>
            <p:cNvSpPr>
              <a:spLocks/>
            </p:cNvSpPr>
            <p:nvPr/>
          </p:nvSpPr>
          <p:spPr bwMode="auto">
            <a:xfrm>
              <a:off x="0" y="0"/>
              <a:ext cx="3343275" cy="10287000"/>
            </a:xfrm>
            <a:custGeom>
              <a:avLst/>
              <a:gdLst>
                <a:gd name="T0" fmla="*/ 3343274 w 3343275"/>
                <a:gd name="T1" fmla="*/ 10287000 h 10287000"/>
                <a:gd name="T2" fmla="*/ 0 w 3343275"/>
                <a:gd name="T3" fmla="*/ 10287000 h 10287000"/>
                <a:gd name="T4" fmla="*/ 0 w 3343275"/>
                <a:gd name="T5" fmla="*/ 0 h 10287000"/>
                <a:gd name="T6" fmla="*/ 3343274 w 3343275"/>
                <a:gd name="T7" fmla="*/ 0 h 10287000"/>
                <a:gd name="T8" fmla="*/ 3343274 w 3343275"/>
                <a:gd name="T9" fmla="*/ 10287000 h 10287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3275" h="10287000">
                  <a:moveTo>
                    <a:pt x="3343274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3343274" y="0"/>
                  </a:lnTo>
                  <a:lnTo>
                    <a:pt x="3343274" y="10287000"/>
                  </a:lnTo>
                  <a:close/>
                </a:path>
              </a:pathLst>
            </a:custGeom>
            <a:solidFill>
              <a:srgbClr val="33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  <p:pic>
          <p:nvPicPr>
            <p:cNvPr id="15364" name="object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8700" y="1028700"/>
              <a:ext cx="4629149" cy="822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86575" y="4452938"/>
            <a:ext cx="8366125" cy="4565650"/>
          </a:xfrm>
          <a:ln cap="flat" algn="ctr">
            <a:round/>
            <a:headEnd type="none" w="med" len="med"/>
            <a:tailEnd type="none" w="med" len="med"/>
          </a:ln>
        </p:spPr>
        <p:txBody>
          <a:bodyPr tIns="17145"/>
          <a:lstStyle/>
          <a:p>
            <a:pPr marL="12700">
              <a:spcBef>
                <a:spcPts val="125"/>
              </a:spcBef>
              <a:tabLst>
                <a:tab pos="155575" algn="l"/>
              </a:tabLst>
            </a:pP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EcoVision AI – Intelligent Waste Monitoring &amp; Sustainability Platform</a:t>
            </a:r>
          </a:p>
          <a:p>
            <a:pPr marL="12700">
              <a:lnSpc>
                <a:spcPts val="2775"/>
              </a:lnSpc>
              <a:spcBef>
                <a:spcPts val="163"/>
              </a:spcBef>
              <a:tabLst>
                <a:tab pos="155575" algn="l"/>
              </a:tabLst>
            </a:pPr>
            <a:r>
              <a:rPr lang="ru-RU" sz="2200" smtClean="0">
                <a:solidFill>
                  <a:srgbClr val="000000"/>
                </a:solidFill>
                <a:latin typeface="Segoe UI Symbol" panose="020B0502040204020203" pitchFamily="34" charset="0"/>
                <a:cs typeface="Calibri" panose="020F0502020204030204" pitchFamily="34" charset="0"/>
              </a:rPr>
              <a:t>🎯 </a:t>
            </a: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Objective: AI-powered platform for waste monitoring, recycling enhancement, carbon footprint estimation, and sustainability promotion.</a:t>
            </a:r>
            <a:endParaRPr lang="ru-RU" sz="2200" smtClean="0">
              <a:solidFill>
                <a:srgbClr val="000000"/>
              </a:solidFill>
              <a:latin typeface="Segoe UI Symbol" panose="020B0502040204020203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2663"/>
              </a:lnSpc>
              <a:tabLst>
                <a:tab pos="155575" algn="l"/>
              </a:tabLst>
            </a:pPr>
            <a:r>
              <a:rPr lang="ru-RU" sz="2200" smtClean="0">
                <a:solidFill>
                  <a:srgbClr val="000000"/>
                </a:solidFill>
                <a:latin typeface="Segoe UI Symbol" panose="020B0502040204020203" pitchFamily="34" charset="0"/>
                <a:cs typeface="Calibri" panose="020F0502020204030204" pitchFamily="34" charset="0"/>
              </a:rPr>
              <a:t>⚙ </a:t>
            </a: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Key Features:</a:t>
            </a:r>
            <a:endParaRPr lang="ru-RU" sz="2200" smtClean="0">
              <a:solidFill>
                <a:srgbClr val="000000"/>
              </a:solidFill>
              <a:latin typeface="Segoe UI Symbol" panose="020B0502040204020203" pitchFamily="34" charset="0"/>
              <a:cs typeface="Calibri" panose="020F0502020204030204" pitchFamily="34" charset="0"/>
            </a:endParaRPr>
          </a:p>
          <a:p>
            <a:pPr marL="12700">
              <a:spcBef>
                <a:spcPts val="375"/>
              </a:spcBef>
              <a:tabLst>
                <a:tab pos="155575" algn="l"/>
              </a:tabLst>
            </a:pP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AI Waste Detection &amp; Classification</a:t>
            </a:r>
          </a:p>
          <a:p>
            <a:pPr marL="12700">
              <a:spcBef>
                <a:spcPts val="425"/>
              </a:spcBef>
              <a:tabLst>
                <a:tab pos="155575" algn="l"/>
              </a:tabLst>
            </a:pP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Smart Recycling Suggestions</a:t>
            </a:r>
          </a:p>
          <a:p>
            <a:pPr marL="12700">
              <a:spcBef>
                <a:spcPts val="425"/>
              </a:spcBef>
              <a:tabLst>
                <a:tab pos="155575" algn="l"/>
              </a:tabLst>
            </a:pP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Carbon Footprint Dashboard</a:t>
            </a:r>
          </a:p>
          <a:p>
            <a:pPr marL="12700">
              <a:spcBef>
                <a:spcPts val="425"/>
              </a:spcBef>
              <a:tabLst>
                <a:tab pos="155575" algn="l"/>
              </a:tabLst>
            </a:pP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Sustainability Awareness Campaigns</a:t>
            </a:r>
          </a:p>
          <a:p>
            <a:pPr marL="12700">
              <a:spcBef>
                <a:spcPts val="425"/>
              </a:spcBef>
              <a:tabLst>
                <a:tab pos="155575" algn="l"/>
              </a:tabLst>
            </a:pP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Environmental Analytics</a:t>
            </a:r>
          </a:p>
          <a:p>
            <a:pPr marL="12700">
              <a:spcBef>
                <a:spcPts val="125"/>
              </a:spcBef>
              <a:tabLst>
                <a:tab pos="155575" algn="l"/>
              </a:tabLst>
            </a:pPr>
            <a:r>
              <a:rPr lang="ru-RU" sz="2200" smtClean="0">
                <a:solidFill>
                  <a:srgbClr val="000000"/>
                </a:solidFill>
                <a:latin typeface="Segoe UI Symbol" panose="020B0502040204020203" pitchFamily="34" charset="0"/>
                <a:cs typeface="Calibri" panose="020F0502020204030204" pitchFamily="34" charset="0"/>
              </a:rPr>
              <a:t>🛠 </a:t>
            </a: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Technologies: Python, TensorFlow, OpenCV, React, Node.js, MongoDB</a:t>
            </a:r>
            <a:endParaRPr lang="ru-RU" sz="2200" smtClean="0">
              <a:solidFill>
                <a:srgbClr val="000000"/>
              </a:solidFill>
              <a:latin typeface="Segoe UI Symbol" panose="020B0502040204020203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2775"/>
              </a:lnSpc>
              <a:spcBef>
                <a:spcPts val="100"/>
              </a:spcBef>
              <a:tabLst>
                <a:tab pos="155575" algn="l"/>
              </a:tabLst>
            </a:pPr>
            <a:r>
              <a:rPr lang="ru-RU" sz="2200" smtClean="0">
                <a:solidFill>
                  <a:srgbClr val="000000"/>
                </a:solidFill>
                <a:latin typeface="Segoe UI Symbol" panose="020B0502040204020203" pitchFamily="34" charset="0"/>
                <a:cs typeface="Calibri" panose="020F0502020204030204" pitchFamily="34" charset="0"/>
              </a:rPr>
              <a:t>🌐 </a:t>
            </a: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Future Scope: Smart City integration, IoT sensors, Government deployment</a:t>
            </a:r>
            <a:endParaRPr lang="ru-RU" sz="2200" smtClean="0">
              <a:solidFill>
                <a:srgbClr val="000000"/>
              </a:solidFill>
              <a:latin typeface="Segoe UI Symbol" panose="020B0502040204020203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2663"/>
              </a:lnSpc>
              <a:tabLst>
                <a:tab pos="155575" algn="l"/>
              </a:tabLst>
            </a:pPr>
            <a:r>
              <a:rPr lang="ru-RU" sz="2200" smtClean="0">
                <a:solidFill>
                  <a:srgbClr val="000000"/>
                </a:solidFill>
                <a:latin typeface="Segoe UI Symbol" panose="020B0502040204020203" pitchFamily="34" charset="0"/>
                <a:cs typeface="Calibri" panose="020F0502020204030204" pitchFamily="34" charset="0"/>
              </a:rPr>
              <a:t>📌 </a:t>
            </a:r>
            <a:r>
              <a:rPr lang="ru-RU" sz="1900" smtClean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Note: Initial topic – subject to change</a:t>
            </a:r>
            <a:endParaRPr lang="ru-RU" sz="2200" smtClean="0">
              <a:solidFill>
                <a:srgbClr val="000000"/>
              </a:solidFill>
              <a:latin typeface="Segoe UI Symbol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350125" y="3133725"/>
            <a:ext cx="9066213" cy="1096963"/>
          </a:xfrm>
          <a:ln cap="flat" algn="ctr">
            <a:round/>
            <a:headEnd type="none" w="med" len="med"/>
            <a:tailEnd type="none" w="med" len="med"/>
          </a:ln>
        </p:spPr>
        <p:txBody>
          <a:bodyPr tIns="15875"/>
          <a:lstStyle/>
          <a:p>
            <a:pPr marL="12700">
              <a:spcBef>
                <a:spcPts val="125"/>
              </a:spcBef>
            </a:pPr>
            <a:r>
              <a:rPr lang="ru-RU" sz="7000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CAPSTONE PROJECT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2"/>
          <p:cNvGrpSpPr>
            <a:grpSpLocks/>
          </p:cNvGrpSpPr>
          <p:nvPr/>
        </p:nvGrpSpPr>
        <p:grpSpPr bwMode="auto"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16387" name="object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283999" cy="10238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</p:pic>
        <p:sp>
          <p:nvSpPr>
            <p:cNvPr id="16388" name="object 4"/>
            <p:cNvSpPr>
              <a:spLocks/>
            </p:cNvSpPr>
            <p:nvPr/>
          </p:nvSpPr>
          <p:spPr bwMode="auto">
            <a:xfrm>
              <a:off x="16793094" y="0"/>
              <a:ext cx="1495425" cy="10287000"/>
            </a:xfrm>
            <a:custGeom>
              <a:avLst/>
              <a:gdLst>
                <a:gd name="T0" fmla="*/ 1494905 w 1495425"/>
                <a:gd name="T1" fmla="*/ 10287000 h 10287000"/>
                <a:gd name="T2" fmla="*/ 0 w 1495425"/>
                <a:gd name="T3" fmla="*/ 10287000 h 10287000"/>
                <a:gd name="T4" fmla="*/ 0 w 1495425"/>
                <a:gd name="T5" fmla="*/ 0 h 10287000"/>
                <a:gd name="T6" fmla="*/ 1494905 w 1495425"/>
                <a:gd name="T7" fmla="*/ 0 h 10287000"/>
                <a:gd name="T8" fmla="*/ 1494905 w 1495425"/>
                <a:gd name="T9" fmla="*/ 10287000 h 10287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5425" h="10287000">
                  <a:moveTo>
                    <a:pt x="149490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1494905" y="0"/>
                  </a:lnTo>
                  <a:lnTo>
                    <a:pt x="1494905" y="10287000"/>
                  </a:lnTo>
                  <a:close/>
                </a:path>
              </a:pathLst>
            </a:custGeom>
            <a:solidFill>
              <a:srgbClr val="33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buFont typeface="Calibri" panose="020F050202020403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32450" y="2678113"/>
            <a:ext cx="5938838" cy="1125537"/>
          </a:xfrm>
          <a:ln cap="flat" algn="ctr">
            <a:round/>
            <a:headEnd type="none" w="med" len="med"/>
            <a:tailEnd type="none" w="med" len="med"/>
          </a:ln>
        </p:spPr>
        <p:txBody>
          <a:bodyPr tIns="14604"/>
          <a:lstStyle/>
          <a:p>
            <a:pPr marL="12700">
              <a:spcBef>
                <a:spcPts val="113"/>
              </a:spcBef>
            </a:pPr>
            <a:r>
              <a:rPr lang="ru-RU" smtClean="0">
                <a:solidFill>
                  <a:srgbClr val="000000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35175" y="4214813"/>
            <a:ext cx="13131800" cy="29400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61594" rIns="0" bIns="0">
            <a:spAutoFit/>
          </a:bodyPr>
          <a:lstStyle/>
          <a:p>
            <a:pPr marL="158115" indent="-145415" eaLnBrk="0" fontAlgn="auto" hangingPunct="0">
              <a:spcBef>
                <a:spcPts val="484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Documentary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YouTube: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Overview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energy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consumption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environmental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impact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modern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data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centres.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Ecological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Calculator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Global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Network: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Tool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measuring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personal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national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environmental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impact.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Emission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Calculator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Various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Platforms: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Used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track,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estimate,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strategize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reduction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carbon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footprints.</a:t>
            </a:r>
            <a:endParaRPr>
              <a:latin typeface="Arial"/>
            </a:endParaRPr>
          </a:p>
          <a:p>
            <a:pPr marL="12700" marR="5080" indent="200025" eaLnBrk="0" fontAlgn="auto" hangingPunct="0">
              <a:lnSpc>
                <a:spcPct val="118100"/>
              </a:lnSpc>
              <a:buSzTx/>
              <a:buFontTx/>
              <a:buChar char="•"/>
              <a:tabLst>
                <a:tab pos="21272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MIT</a:t>
            </a:r>
            <a:r>
              <a:rPr spc="4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En-ROADS</a:t>
            </a:r>
            <a:r>
              <a:rPr spc="459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Climate</a:t>
            </a:r>
            <a:r>
              <a:rPr spc="4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Simulator</a:t>
            </a:r>
            <a:r>
              <a:rPr spc="4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pc="459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MIT</a:t>
            </a:r>
            <a:r>
              <a:rPr spc="4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Sustainability</a:t>
            </a:r>
            <a:r>
              <a:rPr spc="459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Initiative:</a:t>
            </a:r>
            <a:r>
              <a:rPr spc="4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Interactive</a:t>
            </a:r>
            <a:r>
              <a:rPr spc="459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policy</a:t>
            </a:r>
            <a:r>
              <a:rPr spc="4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simulation</a:t>
            </a:r>
            <a:r>
              <a:rPr spc="4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tool</a:t>
            </a:r>
            <a:r>
              <a:rPr spc="459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pc="46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analysing</a:t>
            </a:r>
            <a:r>
              <a:rPr spc="459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climate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change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scenarios.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85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NANDO</a:t>
            </a:r>
            <a:r>
              <a:rPr spc="-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Smart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Waste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Monitoring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Platform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pc="-7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AI-powered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waste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management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smart</a:t>
            </a:r>
            <a:r>
              <a:rPr spc="3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bin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monitoring</a:t>
            </a:r>
            <a:r>
              <a:rPr spc="3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system.</a:t>
            </a:r>
            <a:endParaRPr>
              <a:latin typeface="Arial"/>
            </a:endParaRPr>
          </a:p>
          <a:p>
            <a:pPr marL="158115" indent="-145415" eaLnBrk="0" fontAlgn="auto" hangingPunct="0">
              <a:spcBef>
                <a:spcPts val="390"/>
              </a:spcBef>
              <a:buSzTx/>
              <a:buFontTx/>
              <a:buChar char="•"/>
              <a:tabLst>
                <a:tab pos="15811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Gen.E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Media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Educational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media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resource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covering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skills,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sustainability,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2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emerging</a:t>
            </a:r>
            <a:r>
              <a:rPr spc="2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technologies.</a:t>
            </a:r>
            <a:endParaRPr>
              <a:latin typeface="Arial"/>
            </a:endParaRPr>
          </a:p>
          <a:p>
            <a:pPr marL="12700" marR="5080" indent="154305" eaLnBrk="0" fontAlgn="auto" hangingPunct="0">
              <a:lnSpc>
                <a:spcPct val="118100"/>
              </a:lnSpc>
              <a:buSzTx/>
              <a:buFontTx/>
              <a:buChar char="•"/>
              <a:tabLst>
                <a:tab pos="167005" algn="l"/>
              </a:tabLst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Skill</a:t>
            </a:r>
            <a:r>
              <a:rPr spc="8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Council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pc="9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Jobs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(SCGJ)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–</a:t>
            </a:r>
            <a:r>
              <a:rPr spc="9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Government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of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India:</a:t>
            </a:r>
            <a:r>
              <a:rPr spc="9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Portal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for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green</a:t>
            </a:r>
            <a:r>
              <a:rPr spc="9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job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roles,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certifications,</a:t>
            </a:r>
            <a:r>
              <a:rPr spc="95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and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sustainability</a:t>
            </a:r>
            <a:r>
              <a:rPr spc="1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 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Arial"/>
              </a:rPr>
              <a:t>career pathways.</a:t>
            </a:r>
            <a:endParaRPr>
              <a:latin typeface="Arial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object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1F2B17">
              <a:alpha val="7799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eaLnBrk="0" fontAlgn="auto" hangingPunct="0">
              <a:buSzTx/>
              <a:buFontTx/>
              <a:buNone/>
            </a:pPr>
            <a:endParaRPr/>
          </a:p>
        </p:txBody>
      </p:sp>
      <p:sp>
        <p:nvSpPr>
          <p:cNvPr id="17412" name="object 4"/>
          <p:cNvSpPr>
            <a:spLocks/>
          </p:cNvSpPr>
          <p:nvPr/>
        </p:nvSpPr>
        <p:spPr bwMode="auto">
          <a:xfrm>
            <a:off x="1028700" y="8296275"/>
            <a:ext cx="16230600" cy="0"/>
          </a:xfrm>
          <a:custGeom>
            <a:avLst/>
            <a:gdLst>
              <a:gd name="T0" fmla="*/ 0 w 16230600"/>
              <a:gd name="T1" fmla="*/ 0 h 21600"/>
              <a:gd name="T2" fmla="*/ 16230598 w 16230600"/>
              <a:gd name="T3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230600" h="21600">
                <a:moveTo>
                  <a:pt x="0" y="0"/>
                </a:moveTo>
                <a:lnTo>
                  <a:pt x="16230598" y="0"/>
                </a:lnTo>
              </a:path>
            </a:pathLst>
          </a:custGeom>
          <a:noFill/>
          <a:ln w="38099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54675" y="4302125"/>
            <a:ext cx="6978650" cy="1468438"/>
          </a:xfrm>
          <a:ln cap="flat" algn="ctr">
            <a:round/>
            <a:headEnd type="none" w="med" len="med"/>
            <a:tailEnd type="none" w="med" len="med"/>
          </a:ln>
        </p:spPr>
        <p:txBody>
          <a:bodyPr tIns="15240"/>
          <a:lstStyle/>
          <a:p>
            <a:pPr marL="12700">
              <a:spcBef>
                <a:spcPts val="113"/>
              </a:spcBef>
            </a:pPr>
            <a:r>
              <a:rPr lang="ru-RU" sz="9400" smtClean="0">
                <a:solidFill>
                  <a:srgbClr val="FFFFFF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THANK YOU</a:t>
            </a:r>
            <a:endParaRPr lang="ru-RU" sz="9400" smtClean="0">
              <a:solidFill>
                <a:srgbClr val="000000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5"/>
  <p:tag name="AS_OS" val="Unix 6.1.174.0"/>
  <p:tag name="AS_RELEASE_DATE" val="2024.10.14"/>
  <p:tag name="AS_TITLE" val="Aspose.Slides for .NET6"/>
  <p:tag name="AS_VERSION" val="24.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1123</Words>
  <Application>Microsoft Office PowerPoint</Application>
  <PresentationFormat>Custom</PresentationFormat>
  <Paragraphs>120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Segoe UI Emoji</vt:lpstr>
      <vt:lpstr>Segoe UI Symbol</vt:lpstr>
      <vt:lpstr>Tahoma</vt:lpstr>
      <vt:lpstr>Trebuchet MS</vt:lpstr>
      <vt:lpstr>Wingdings</vt:lpstr>
      <vt:lpstr>Office Theme</vt:lpstr>
      <vt:lpstr>GREEN SKILLING, SUSTAINABILITY, ARTIFICIAL INTELLIGENCE &amp; SDG 17</vt:lpstr>
      <vt:lpstr>AGENDA</vt:lpstr>
      <vt:lpstr>WHAT IS GREEN SKILLING</vt:lpstr>
      <vt:lpstr>SUSTAINABILITY</vt:lpstr>
      <vt:lpstr>SDG 17 – PARTNERSHIPS FOR THE GOALS</vt:lpstr>
      <vt:lpstr>KEY LEARNINGS</vt:lpstr>
      <vt:lpstr>DATA CENTRES &amp; SUSTAINABILITY</vt:lpstr>
      <vt:lpstr>AI FOR SUSTAINABILITY</vt:lpstr>
      <vt:lpstr>CHALLENGES OF AI</vt:lpstr>
      <vt:lpstr>ACTIVITIES COMPLETED</vt:lpstr>
      <vt:lpstr>KEY LEARNINGS</vt:lpstr>
      <vt:lpstr>CAPSTONE PROJECT</vt:lpstr>
      <vt:lpstr>REFERENCES</vt:lpstr>
      <vt:lpstr>THANK YOU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Skilling &amp; SDG 17 for CSE</dc:title>
  <dc:subject/>
  <dc:creator>24_137 Yug_Patel</dc:creator>
  <cp:keywords>DAHOsozaWyk,BAHOmikXZ1A,0</cp:keywords>
  <dc:description/>
  <cp:lastModifiedBy>Microsoft account</cp:lastModifiedBy>
  <cp:revision>3</cp:revision>
  <cp:lastPrinted>1601-01-01T00:00:00Z</cp:lastPrinted>
  <dcterms:created xsi:type="dcterms:W3CDTF">2026-07-07T10:47:01Z</dcterms:created>
  <dcterms:modified xsi:type="dcterms:W3CDTF">2026-07-08T13:30:12Z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ainsAiGeneratedContent">
    <vt:lpwstr>Yes</vt:lpwstr>
  </property>
  <property fmtid="{D5CDD505-2E9C-101B-9397-08002B2CF9AE}" pid="3" name="Created">
    <vt:filetime>2026-07-07T00:00:00Z</vt:filetime>
  </property>
  <property fmtid="{D5CDD505-2E9C-101B-9397-08002B2CF9AE}" pid="4" name="Creator">
    <vt:lpwstr>Canva</vt:lpwstr>
  </property>
  <property fmtid="{D5CDD505-2E9C-101B-9397-08002B2CF9AE}" pid="5" name="LastSaved">
    <vt:filetime>2026-07-07T00:00:00Z</vt:filetime>
  </property>
  <property fmtid="{D5CDD505-2E9C-101B-9397-08002B2CF9AE}" pid="6" name="Producer">
    <vt:lpwstr>Canva</vt:lpwstr>
  </property>
</Properties>
</file>